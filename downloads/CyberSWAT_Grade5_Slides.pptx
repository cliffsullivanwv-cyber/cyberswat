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2B4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C98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GRADES 3–12 · DIGITAL CITIZENSHIP &amp; ONLINE SAFETY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94360" y="1097280"/>
            <a:ext cx="365760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0" b="1" dirty="0">
                <a:solidFill>
                  <a:srgbClr val="C986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15000" dirty="0"/>
          </a:p>
        </p:txBody>
      </p:sp>
      <p:sp>
        <p:nvSpPr>
          <p:cNvPr id="4" name="Text 2"/>
          <p:cNvSpPr/>
          <p:nvPr/>
        </p:nvSpPr>
        <p:spPr>
          <a:xfrm>
            <a:off x="640080" y="3200400"/>
            <a:ext cx="96012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Ready for Middle School Tech</a:t>
            </a:r>
            <a:endParaRPr lang="en-US" sz="4000" dirty="0"/>
          </a:p>
        </p:txBody>
      </p:sp>
      <p:sp>
        <p:nvSpPr>
          <p:cNvPr id="5" name="Shape 3"/>
          <p:cNvSpPr/>
          <p:nvPr/>
        </p:nvSpPr>
        <p:spPr>
          <a:xfrm>
            <a:off x="640080" y="4160520"/>
            <a:ext cx="9875520" cy="18288"/>
          </a:xfrm>
          <a:prstGeom prst="rect">
            <a:avLst/>
          </a:prstGeom>
          <a:solidFill>
            <a:srgbClr val="3A4A64"/>
          </a:solidFill>
          <a:ln/>
        </p:spPr>
      </p:sp>
      <p:sp>
        <p:nvSpPr>
          <p:cNvPr id="6" name="Text 4"/>
          <p:cNvSpPr/>
          <p:nvPr/>
        </p:nvSpPr>
        <p:spPr>
          <a:xfrm>
            <a:off x="640080" y="4434840"/>
            <a:ext cx="96926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D8DE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can 5th grade students take more responsibility for their digital footprint before middle school?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640080" y="626364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8B93A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CyberSWAT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6F3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76B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THIS UNIT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85800"/>
            <a:ext cx="91440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B2B4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We'll Cover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640080" y="1737360"/>
            <a:ext cx="502920" cy="502920"/>
          </a:xfrm>
          <a:prstGeom prst="ellipse">
            <a:avLst/>
          </a:prstGeom>
          <a:solidFill>
            <a:srgbClr val="276B5D"/>
          </a:solidFill>
          <a:ln/>
        </p:spPr>
      </p:sp>
      <p:sp>
        <p:nvSpPr>
          <p:cNvPr id="5" name="Text 3"/>
          <p:cNvSpPr/>
          <p:nvPr/>
        </p:nvSpPr>
        <p:spPr>
          <a:xfrm>
            <a:off x="640080" y="173736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1371600" y="1673352"/>
            <a:ext cx="86868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B2B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My First Digital Footprint</a:t>
            </a:r>
            <a:endParaRPr lang="en-US" sz="1900" dirty="0"/>
          </a:p>
        </p:txBody>
      </p:sp>
      <p:sp>
        <p:nvSpPr>
          <p:cNvPr id="7" name="Text 5"/>
          <p:cNvSpPr/>
          <p:nvPr/>
        </p:nvSpPr>
        <p:spPr>
          <a:xfrm>
            <a:off x="1371600" y="2075688"/>
            <a:ext cx="8686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Lesson · 40 min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640080" y="2788920"/>
            <a:ext cx="502920" cy="502920"/>
          </a:xfrm>
          <a:prstGeom prst="ellipse">
            <a:avLst/>
          </a:prstGeom>
          <a:solidFill>
            <a:srgbClr val="276B5D"/>
          </a:solidFill>
          <a:ln/>
        </p:spPr>
      </p:sp>
      <p:sp>
        <p:nvSpPr>
          <p:cNvPr id="9" name="Text 7"/>
          <p:cNvSpPr/>
          <p:nvPr/>
        </p:nvSpPr>
        <p:spPr>
          <a:xfrm>
            <a:off x="640080" y="278892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1371600" y="2724912"/>
            <a:ext cx="86868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B2B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Online Friendships &amp; Strangers</a:t>
            </a:r>
            <a:endParaRPr lang="en-US" sz="1900" dirty="0"/>
          </a:p>
        </p:txBody>
      </p:sp>
      <p:sp>
        <p:nvSpPr>
          <p:cNvPr id="11" name="Text 9"/>
          <p:cNvSpPr/>
          <p:nvPr/>
        </p:nvSpPr>
        <p:spPr>
          <a:xfrm>
            <a:off x="1371600" y="3127248"/>
            <a:ext cx="8686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Lesson · 40 min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640080" y="3840480"/>
            <a:ext cx="502920" cy="502920"/>
          </a:xfrm>
          <a:prstGeom prst="ellipse">
            <a:avLst/>
          </a:prstGeom>
          <a:solidFill>
            <a:srgbClr val="276B5D"/>
          </a:solidFill>
          <a:ln/>
        </p:spPr>
      </p:sp>
      <p:sp>
        <p:nvSpPr>
          <p:cNvPr id="13" name="Text 11"/>
          <p:cNvSpPr/>
          <p:nvPr/>
        </p:nvSpPr>
        <p:spPr>
          <a:xfrm>
            <a:off x="640080" y="384048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371600" y="3776472"/>
            <a:ext cx="86868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B2B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Balancing Screen Time &amp; Responsibility</a:t>
            </a:r>
            <a:endParaRPr lang="en-US" sz="1900" dirty="0"/>
          </a:p>
        </p:txBody>
      </p:sp>
      <p:sp>
        <p:nvSpPr>
          <p:cNvPr id="15" name="Text 13"/>
          <p:cNvSpPr/>
          <p:nvPr/>
        </p:nvSpPr>
        <p:spPr>
          <a:xfrm>
            <a:off x="1371600" y="4178808"/>
            <a:ext cx="8686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Lesson · 40 min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640080" y="4892040"/>
            <a:ext cx="502920" cy="502920"/>
          </a:xfrm>
          <a:prstGeom prst="ellipse">
            <a:avLst/>
          </a:prstGeom>
          <a:solidFill>
            <a:srgbClr val="276B5D"/>
          </a:solidFill>
          <a:ln/>
        </p:spPr>
      </p:sp>
      <p:sp>
        <p:nvSpPr>
          <p:cNvPr id="17" name="Text 15"/>
          <p:cNvSpPr/>
          <p:nvPr/>
        </p:nvSpPr>
        <p:spPr>
          <a:xfrm>
            <a:off x="640080" y="489204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★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1371600" y="4828032"/>
            <a:ext cx="86868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B2B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Tabletop Exercises</a:t>
            </a:r>
            <a:endParaRPr lang="en-US" sz="1900" dirty="0"/>
          </a:p>
        </p:txBody>
      </p:sp>
      <p:sp>
        <p:nvSpPr>
          <p:cNvPr id="19" name="Text 17"/>
          <p:cNvSpPr/>
          <p:nvPr/>
        </p:nvSpPr>
        <p:spPr>
          <a:xfrm>
            <a:off x="1371600" y="5230368"/>
            <a:ext cx="8686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scenario-based discussions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457200" y="6510528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AA4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CyberSWAT · Grade 5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6F3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76B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SIGNATURE FRAMEWORKS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85800"/>
            <a:ext cx="10058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B2B4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Strategies Students Will Practice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973836" y="2651760"/>
            <a:ext cx="3200400" cy="1737360"/>
          </a:xfrm>
          <a:prstGeom prst="roundRect">
            <a:avLst>
              <a:gd name="adj" fmla="val 5263"/>
            </a:avLst>
          </a:prstGeom>
          <a:solidFill>
            <a:srgbClr val="F3E2C2"/>
          </a:solidFill>
          <a:ln/>
        </p:spPr>
      </p:sp>
      <p:sp>
        <p:nvSpPr>
          <p:cNvPr id="5" name="Text 3"/>
          <p:cNvSpPr/>
          <p:nvPr/>
        </p:nvSpPr>
        <p:spPr>
          <a:xfrm>
            <a:off x="1202436" y="2651760"/>
            <a:ext cx="2743200" cy="1737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7A562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Footprint First Steps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4494276" y="2651760"/>
            <a:ext cx="3200400" cy="1737360"/>
          </a:xfrm>
          <a:prstGeom prst="roundRect">
            <a:avLst>
              <a:gd name="adj" fmla="val 5263"/>
            </a:avLst>
          </a:prstGeom>
          <a:solidFill>
            <a:srgbClr val="F3E2C2"/>
          </a:solidFill>
          <a:ln/>
        </p:spPr>
      </p:sp>
      <p:sp>
        <p:nvSpPr>
          <p:cNvPr id="7" name="Text 5"/>
          <p:cNvSpPr/>
          <p:nvPr/>
        </p:nvSpPr>
        <p:spPr>
          <a:xfrm>
            <a:off x="4722876" y="2651760"/>
            <a:ext cx="2743200" cy="1737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7A562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Pause · Check · Decide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8014716" y="2651760"/>
            <a:ext cx="3200400" cy="1737360"/>
          </a:xfrm>
          <a:prstGeom prst="roundRect">
            <a:avLst>
              <a:gd name="adj" fmla="val 5263"/>
            </a:avLst>
          </a:prstGeom>
          <a:solidFill>
            <a:srgbClr val="F3E2C2"/>
          </a:solidFill>
          <a:ln/>
        </p:spPr>
      </p:sp>
      <p:sp>
        <p:nvSpPr>
          <p:cNvPr id="9" name="Text 7"/>
          <p:cNvSpPr/>
          <p:nvPr/>
        </p:nvSpPr>
        <p:spPr>
          <a:xfrm>
            <a:off x="8243316" y="2651760"/>
            <a:ext cx="2743200" cy="1737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7A562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Friend or Stranger?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457200" y="6510528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AA4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CyberSWAT · Grade 5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6F3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76B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LESSON 1 · 40 MIN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85800"/>
            <a:ext cx="10515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B2B4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My First Digital Footprint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600200"/>
            <a:ext cx="11064240" cy="868680"/>
          </a:xfrm>
          <a:prstGeom prst="roundRect">
            <a:avLst>
              <a:gd name="adj" fmla="val 8421"/>
            </a:avLst>
          </a:prstGeom>
          <a:solidFill>
            <a:srgbClr val="FFFFFF"/>
          </a:solidFill>
          <a:ln w="12700">
            <a:solidFill>
              <a:srgbClr val="DDD5C2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22960" y="1600200"/>
            <a:ext cx="10515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76B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OBJECTIVE  </a:t>
            </a:r>
            <a:pPr indent="0" marL="0">
              <a:buNone/>
            </a:pPr>
            <a:r>
              <a:rPr lang="en-US" sz="1400" dirty="0">
                <a:solidFill>
                  <a:srgbClr val="1B2B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Students will be able to explain what a digital footprint is and describe one way to keep theirs positive.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" y="2788920"/>
            <a:ext cx="347472" cy="347472"/>
          </a:xfrm>
          <a:prstGeom prst="ellipse">
            <a:avLst/>
          </a:prstGeom>
          <a:solidFill>
            <a:srgbClr val="1B2B42"/>
          </a:solidFill>
          <a:ln/>
        </p:spPr>
      </p:sp>
      <p:sp>
        <p:nvSpPr>
          <p:cNvPr id="7" name="Text 5"/>
          <p:cNvSpPr/>
          <p:nvPr/>
        </p:nvSpPr>
        <p:spPr>
          <a:xfrm>
            <a:off x="640080" y="2788920"/>
            <a:ext cx="34747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1234440" y="2697480"/>
            <a:ext cx="1033272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B2B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Introduce the term "digital footprint" — the trail of information left behind by what we post, share, and search online.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" y="3840480"/>
            <a:ext cx="347472" cy="347472"/>
          </a:xfrm>
          <a:prstGeom prst="ellipse">
            <a:avLst/>
          </a:prstGeom>
          <a:solidFill>
            <a:srgbClr val="1B2B42"/>
          </a:solidFill>
          <a:ln/>
        </p:spPr>
      </p:sp>
      <p:sp>
        <p:nvSpPr>
          <p:cNvPr id="10" name="Text 8"/>
          <p:cNvSpPr/>
          <p:nvPr/>
        </p:nvSpPr>
        <p:spPr>
          <a:xfrm>
            <a:off x="640080" y="3840480"/>
            <a:ext cx="34747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1234440" y="3749040"/>
            <a:ext cx="1033272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B2B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Explain that even "deleted" posts can sometimes be seen by others first (screenshots, shares) — so it's smart to think ahead.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640080" y="4892040"/>
            <a:ext cx="347472" cy="347472"/>
          </a:xfrm>
          <a:prstGeom prst="ellipse">
            <a:avLst/>
          </a:prstGeom>
          <a:solidFill>
            <a:srgbClr val="1B2B42"/>
          </a:solidFill>
          <a:ln/>
        </p:spPr>
      </p:sp>
      <p:sp>
        <p:nvSpPr>
          <p:cNvPr id="13" name="Text 11"/>
          <p:cNvSpPr/>
          <p:nvPr/>
        </p:nvSpPr>
        <p:spPr>
          <a:xfrm>
            <a:off x="640080" y="4892040"/>
            <a:ext cx="34747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1234440" y="4800600"/>
            <a:ext cx="1033272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B2B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Teach the model response: "I think about who could see this before I post or send it."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457200" y="6510528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AA4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CyberSWAT · Grade 5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B2B4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C98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LESSON 1 · MODEL RESPONSE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914400"/>
            <a:ext cx="18288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0" b="1" dirty="0">
                <a:solidFill>
                  <a:srgbClr val="2E3F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“</a:t>
            </a:r>
            <a:endParaRPr lang="en-US" sz="12000" dirty="0"/>
          </a:p>
        </p:txBody>
      </p:sp>
      <p:sp>
        <p:nvSpPr>
          <p:cNvPr id="4" name="Text 2"/>
          <p:cNvSpPr/>
          <p:nvPr/>
        </p:nvSpPr>
        <p:spPr>
          <a:xfrm>
            <a:off x="914400" y="2286000"/>
            <a:ext cx="10332720" cy="2377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400" b="1" i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 think about who could see this before I post or send it.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914400" y="50292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AEB9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Practice saying this out loud until it becomes automatic.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457200" y="6510528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B93A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CyberSWAT · Grade 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6F3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76B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LESSON 2 · 40 MIN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85800"/>
            <a:ext cx="10515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B2B4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Online Friendships &amp; Strangers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600200"/>
            <a:ext cx="11064240" cy="868680"/>
          </a:xfrm>
          <a:prstGeom prst="roundRect">
            <a:avLst>
              <a:gd name="adj" fmla="val 8421"/>
            </a:avLst>
          </a:prstGeom>
          <a:solidFill>
            <a:srgbClr val="FFFFFF"/>
          </a:solidFill>
          <a:ln w="12700">
            <a:solidFill>
              <a:srgbClr val="DDD5C2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22960" y="1600200"/>
            <a:ext cx="10515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76B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OBJECTIVE  </a:t>
            </a:r>
            <a:pPr indent="0" marL="0">
              <a:buNone/>
            </a:pPr>
            <a:r>
              <a:rPr lang="en-US" sz="1400" dirty="0">
                <a:solidFill>
                  <a:srgbClr val="1B2B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Students will be able to distinguish between people they know in real life and people they only know online, and explain the risks of sharing personal details with the latter.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" y="2788920"/>
            <a:ext cx="347472" cy="347472"/>
          </a:xfrm>
          <a:prstGeom prst="ellipse">
            <a:avLst/>
          </a:prstGeom>
          <a:solidFill>
            <a:srgbClr val="1B2B42"/>
          </a:solidFill>
          <a:ln/>
        </p:spPr>
      </p:sp>
      <p:sp>
        <p:nvSpPr>
          <p:cNvPr id="7" name="Text 5"/>
          <p:cNvSpPr/>
          <p:nvPr/>
        </p:nvSpPr>
        <p:spPr>
          <a:xfrm>
            <a:off x="640080" y="2788920"/>
            <a:ext cx="34747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1234440" y="2697480"/>
            <a:ext cx="1033272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B2B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Introduce the "Friend or Stranger?" framework: someone we've met and know in real life vs. someone we only know through a screen.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" y="3840480"/>
            <a:ext cx="347472" cy="347472"/>
          </a:xfrm>
          <a:prstGeom prst="ellipse">
            <a:avLst/>
          </a:prstGeom>
          <a:solidFill>
            <a:srgbClr val="1B2B42"/>
          </a:solidFill>
          <a:ln/>
        </p:spPr>
      </p:sp>
      <p:sp>
        <p:nvSpPr>
          <p:cNvPr id="10" name="Text 8"/>
          <p:cNvSpPr/>
          <p:nvPr/>
        </p:nvSpPr>
        <p:spPr>
          <a:xfrm>
            <a:off x="640080" y="3840480"/>
            <a:ext cx="34747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1234440" y="3749040"/>
            <a:ext cx="1033272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B2B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Discuss: people online aren't always who they say they are — an online "friend" could be an adult pretending to be a kid, or could ask questions that seem harmless but reveal a lot (school name, neighborhood, schedule).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640080" y="4892040"/>
            <a:ext cx="347472" cy="347472"/>
          </a:xfrm>
          <a:prstGeom prst="ellipse">
            <a:avLst/>
          </a:prstGeom>
          <a:solidFill>
            <a:srgbClr val="1B2B42"/>
          </a:solidFill>
          <a:ln/>
        </p:spPr>
      </p:sp>
      <p:sp>
        <p:nvSpPr>
          <p:cNvPr id="13" name="Text 11"/>
          <p:cNvSpPr/>
          <p:nvPr/>
        </p:nvSpPr>
        <p:spPr>
          <a:xfrm>
            <a:off x="640080" y="4892040"/>
            <a:ext cx="34747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1234440" y="4800600"/>
            <a:ext cx="1033272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B2B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Teach the model response: "I don't share personal details with someone I only know online."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457200" y="6510528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AA4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CyberSWAT · Grade 5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B2B4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C98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LESSON 2 · MODEL RESPONSE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914400"/>
            <a:ext cx="18288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0" b="1" dirty="0">
                <a:solidFill>
                  <a:srgbClr val="2E3F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“</a:t>
            </a:r>
            <a:endParaRPr lang="en-US" sz="12000" dirty="0"/>
          </a:p>
        </p:txBody>
      </p:sp>
      <p:sp>
        <p:nvSpPr>
          <p:cNvPr id="4" name="Text 2"/>
          <p:cNvSpPr/>
          <p:nvPr/>
        </p:nvSpPr>
        <p:spPr>
          <a:xfrm>
            <a:off x="914400" y="2286000"/>
            <a:ext cx="10332720" cy="2377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400" b="1" i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 don't share personal details with someone I only know online.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914400" y="50292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AEB9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Practice saying this out loud until it becomes automatic.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457200" y="6510528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B93A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CyberSWAT · Grade 5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6F3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76B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LESSON 3 · 40 MIN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85800"/>
            <a:ext cx="10515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B2B4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Balancing Screen Time &amp; Responsibility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600200"/>
            <a:ext cx="11064240" cy="868680"/>
          </a:xfrm>
          <a:prstGeom prst="roundRect">
            <a:avLst>
              <a:gd name="adj" fmla="val 8421"/>
            </a:avLst>
          </a:prstGeom>
          <a:solidFill>
            <a:srgbClr val="FFFFFF"/>
          </a:solidFill>
          <a:ln w="12700">
            <a:solidFill>
              <a:srgbClr val="DDD5C2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22960" y="1600200"/>
            <a:ext cx="10515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76B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OBJECTIVE  </a:t>
            </a:r>
            <a:pPr indent="0" marL="0">
              <a:buNone/>
            </a:pPr>
            <a:r>
              <a:rPr lang="en-US" sz="1400" dirty="0">
                <a:solidFill>
                  <a:srgbClr val="1B2B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Students will be able to identify signs of unbalanced screen time and describe one strategy for managing it responsibly.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" y="2788920"/>
            <a:ext cx="347472" cy="347472"/>
          </a:xfrm>
          <a:prstGeom prst="ellipse">
            <a:avLst/>
          </a:prstGeom>
          <a:solidFill>
            <a:srgbClr val="1B2B42"/>
          </a:solidFill>
          <a:ln/>
        </p:spPr>
      </p:sp>
      <p:sp>
        <p:nvSpPr>
          <p:cNvPr id="7" name="Text 5"/>
          <p:cNvSpPr/>
          <p:nvPr/>
        </p:nvSpPr>
        <p:spPr>
          <a:xfrm>
            <a:off x="640080" y="2788920"/>
            <a:ext cx="34747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1234440" y="2697480"/>
            <a:ext cx="1033272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B2B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Discuss why balance matters — screens are useful and fun, but sleep, exercise, homework, and family time matter too.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" y="3840480"/>
            <a:ext cx="347472" cy="347472"/>
          </a:xfrm>
          <a:prstGeom prst="ellipse">
            <a:avLst/>
          </a:prstGeom>
          <a:solidFill>
            <a:srgbClr val="1B2B42"/>
          </a:solidFill>
          <a:ln/>
        </p:spPr>
      </p:sp>
      <p:sp>
        <p:nvSpPr>
          <p:cNvPr id="10" name="Text 8"/>
          <p:cNvSpPr/>
          <p:nvPr/>
        </p:nvSpPr>
        <p:spPr>
          <a:xfrm>
            <a:off x="640080" y="3840480"/>
            <a:ext cx="34747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1234440" y="3749040"/>
            <a:ext cx="1033272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B2B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Introduce simple self-check questions: Am I following my family's rules? Am I taking breaks? Am I choosing screens over things I need to do?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640080" y="4892040"/>
            <a:ext cx="347472" cy="347472"/>
          </a:xfrm>
          <a:prstGeom prst="ellipse">
            <a:avLst/>
          </a:prstGeom>
          <a:solidFill>
            <a:srgbClr val="1B2B42"/>
          </a:solidFill>
          <a:ln/>
        </p:spPr>
      </p:sp>
      <p:sp>
        <p:nvSpPr>
          <p:cNvPr id="13" name="Text 11"/>
          <p:cNvSpPr/>
          <p:nvPr/>
        </p:nvSpPr>
        <p:spPr>
          <a:xfrm>
            <a:off x="640080" y="4892040"/>
            <a:ext cx="34747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1234440" y="4800600"/>
            <a:ext cx="1033272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B2B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Teach the model response: "I follow my family's tech rules and take breaks on my own."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457200" y="6510528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AA4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CyberSWAT · Grade 5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B2B4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C98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LESSON 3 · MODEL RESPONSE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914400"/>
            <a:ext cx="18288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0" b="1" dirty="0">
                <a:solidFill>
                  <a:srgbClr val="2E3F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“</a:t>
            </a:r>
            <a:endParaRPr lang="en-US" sz="12000" dirty="0"/>
          </a:p>
        </p:txBody>
      </p:sp>
      <p:sp>
        <p:nvSpPr>
          <p:cNvPr id="4" name="Text 2"/>
          <p:cNvSpPr/>
          <p:nvPr/>
        </p:nvSpPr>
        <p:spPr>
          <a:xfrm>
            <a:off x="914400" y="2286000"/>
            <a:ext cx="10332720" cy="2377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400" b="1" i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 follow my family's tech rules and take breaks on my own.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914400" y="50292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AEB9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Practice saying this out loud until it becomes automatic.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457200" y="6510528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B93A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CyberSWAT · Grade 5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276B5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F3E2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PRACTICE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2377440"/>
            <a:ext cx="10515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Tabletop Exercises</a:t>
            </a:r>
            <a:endParaRPr lang="en-US" sz="4200" dirty="0"/>
          </a:p>
        </p:txBody>
      </p:sp>
      <p:sp>
        <p:nvSpPr>
          <p:cNvPr id="4" name="Text 2"/>
          <p:cNvSpPr/>
          <p:nvPr/>
        </p:nvSpPr>
        <p:spPr>
          <a:xfrm>
            <a:off x="640080" y="3429000"/>
            <a:ext cx="96012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D8E8E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each scenario aloud, then work through the discussion questions as a class, in small groups, or as a quick-write.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457200" y="6510528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B93A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CyberSWAT · Grade 5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6F3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C98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TABLETOP 1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05156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B4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New Online Friend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48640" y="1417320"/>
            <a:ext cx="11064240" cy="1417320"/>
          </a:xfrm>
          <a:prstGeom prst="roundRect">
            <a:avLst>
              <a:gd name="adj" fmla="val 5161"/>
            </a:avLst>
          </a:prstGeom>
          <a:solidFill>
            <a:srgbClr val="F3E2C2"/>
          </a:solidFill>
          <a:ln/>
        </p:spPr>
      </p:sp>
      <p:sp>
        <p:nvSpPr>
          <p:cNvPr id="5" name="Text 3"/>
          <p:cNvSpPr/>
          <p:nvPr/>
        </p:nvSpPr>
        <p:spPr>
          <a:xfrm>
            <a:off x="822960" y="15544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7A56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SCENARIO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822960" y="1828800"/>
            <a:ext cx="1051560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i="1" dirty="0">
                <a:solidFill>
                  <a:srgbClr val="1B2B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While playing an online game, a student starts chatting with someone they've never met. The stranger asks the student's real name, school, and what they look like.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548640" y="310896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76B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DISCUSSION QUESTIONS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594360" y="3584448"/>
            <a:ext cx="128016" cy="128016"/>
          </a:xfrm>
          <a:prstGeom prst="ellipse">
            <a:avLst/>
          </a:prstGeom>
          <a:solidFill>
            <a:srgbClr val="276B5D"/>
          </a:solidFill>
          <a:ln/>
        </p:spPr>
      </p:sp>
      <p:sp>
        <p:nvSpPr>
          <p:cNvPr id="9" name="Text 7"/>
          <p:cNvSpPr/>
          <p:nvPr/>
        </p:nvSpPr>
        <p:spPr>
          <a:xfrm>
            <a:off x="914400" y="3447288"/>
            <a:ext cx="104241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B2B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Which of these questions should the student avoid answering? Why?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594360" y="4270248"/>
            <a:ext cx="128016" cy="128016"/>
          </a:xfrm>
          <a:prstGeom prst="ellipse">
            <a:avLst/>
          </a:prstGeom>
          <a:solidFill>
            <a:srgbClr val="276B5D"/>
          </a:solidFill>
          <a:ln/>
        </p:spPr>
      </p:sp>
      <p:sp>
        <p:nvSpPr>
          <p:cNvPr id="11" name="Text 9"/>
          <p:cNvSpPr/>
          <p:nvPr/>
        </p:nvSpPr>
        <p:spPr>
          <a:xfrm>
            <a:off x="914400" y="4133088"/>
            <a:ext cx="104241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B2B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could happen if the student shares this information?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594360" y="4956048"/>
            <a:ext cx="128016" cy="128016"/>
          </a:xfrm>
          <a:prstGeom prst="ellipse">
            <a:avLst/>
          </a:prstGeom>
          <a:solidFill>
            <a:srgbClr val="276B5D"/>
          </a:solidFill>
          <a:ln/>
        </p:spPr>
      </p:sp>
      <p:sp>
        <p:nvSpPr>
          <p:cNvPr id="13" name="Text 11"/>
          <p:cNvSpPr/>
          <p:nvPr/>
        </p:nvSpPr>
        <p:spPr>
          <a:xfrm>
            <a:off x="914400" y="4818888"/>
            <a:ext cx="104241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B2B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is a safe way to respond?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457200" y="6510528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AA4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CyberSWAT · Grade 5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6F3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C98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TABLETOP 2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05156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B4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Embarrassing Photo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48640" y="1417320"/>
            <a:ext cx="11064240" cy="1417320"/>
          </a:xfrm>
          <a:prstGeom prst="roundRect">
            <a:avLst>
              <a:gd name="adj" fmla="val 5161"/>
            </a:avLst>
          </a:prstGeom>
          <a:solidFill>
            <a:srgbClr val="F3E2C2"/>
          </a:solidFill>
          <a:ln/>
        </p:spPr>
      </p:sp>
      <p:sp>
        <p:nvSpPr>
          <p:cNvPr id="5" name="Text 3"/>
          <p:cNvSpPr/>
          <p:nvPr/>
        </p:nvSpPr>
        <p:spPr>
          <a:xfrm>
            <a:off x="822960" y="15544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7A56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SCENARIO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822960" y="1828800"/>
            <a:ext cx="1051560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i="1" dirty="0">
                <a:solidFill>
                  <a:srgbClr val="1B2B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student takes a funny but embarrassing photo of a friend and is about to post it in the class group chat without asking.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548640" y="310896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76B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DISCUSSION QUESTIONS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594360" y="3584448"/>
            <a:ext cx="128016" cy="128016"/>
          </a:xfrm>
          <a:prstGeom prst="ellipse">
            <a:avLst/>
          </a:prstGeom>
          <a:solidFill>
            <a:srgbClr val="276B5D"/>
          </a:solidFill>
          <a:ln/>
        </p:spPr>
      </p:sp>
      <p:sp>
        <p:nvSpPr>
          <p:cNvPr id="9" name="Text 7"/>
          <p:cNvSpPr/>
          <p:nvPr/>
        </p:nvSpPr>
        <p:spPr>
          <a:xfrm>
            <a:off x="914400" y="3447288"/>
            <a:ext cx="104241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B2B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might the friend in the photo feel if it's posted without asking?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594360" y="4270248"/>
            <a:ext cx="128016" cy="128016"/>
          </a:xfrm>
          <a:prstGeom prst="ellipse">
            <a:avLst/>
          </a:prstGeom>
          <a:solidFill>
            <a:srgbClr val="276B5D"/>
          </a:solidFill>
          <a:ln/>
        </p:spPr>
      </p:sp>
      <p:sp>
        <p:nvSpPr>
          <p:cNvPr id="11" name="Text 9"/>
          <p:cNvSpPr/>
          <p:nvPr/>
        </p:nvSpPr>
        <p:spPr>
          <a:xfrm>
            <a:off x="914400" y="4133088"/>
            <a:ext cx="104241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B2B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should the student do before posting a photo of someone else?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594360" y="4956048"/>
            <a:ext cx="128016" cy="128016"/>
          </a:xfrm>
          <a:prstGeom prst="ellipse">
            <a:avLst/>
          </a:prstGeom>
          <a:solidFill>
            <a:srgbClr val="276B5D"/>
          </a:solidFill>
          <a:ln/>
        </p:spPr>
      </p:sp>
      <p:sp>
        <p:nvSpPr>
          <p:cNvPr id="13" name="Text 11"/>
          <p:cNvSpPr/>
          <p:nvPr/>
        </p:nvSpPr>
        <p:spPr>
          <a:xfrm>
            <a:off x="914400" y="4818888"/>
            <a:ext cx="104241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B2B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does this connect to a positive digital footprint?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457200" y="6510528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AA4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CyberSWAT · Grade 5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6F3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C98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TABLETOP 3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05156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B4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Screen-Time Negotiation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48640" y="1417320"/>
            <a:ext cx="11064240" cy="1417320"/>
          </a:xfrm>
          <a:prstGeom prst="roundRect">
            <a:avLst>
              <a:gd name="adj" fmla="val 5161"/>
            </a:avLst>
          </a:prstGeom>
          <a:solidFill>
            <a:srgbClr val="F3E2C2"/>
          </a:solidFill>
          <a:ln/>
        </p:spPr>
      </p:sp>
      <p:sp>
        <p:nvSpPr>
          <p:cNvPr id="5" name="Text 3"/>
          <p:cNvSpPr/>
          <p:nvPr/>
        </p:nvSpPr>
        <p:spPr>
          <a:xfrm>
            <a:off x="822960" y="15544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7A56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SCENARIO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822960" y="1828800"/>
            <a:ext cx="1051560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i="1" dirty="0">
                <a:solidFill>
                  <a:srgbClr val="1B2B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student wants to use screens for two more hours after already hitting the family's daily limit and is deciding whether to ask or just keep going.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548640" y="310896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76B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DISCUSSION QUESTIONS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594360" y="3584448"/>
            <a:ext cx="128016" cy="128016"/>
          </a:xfrm>
          <a:prstGeom prst="ellipse">
            <a:avLst/>
          </a:prstGeom>
          <a:solidFill>
            <a:srgbClr val="276B5D"/>
          </a:solidFill>
          <a:ln/>
        </p:spPr>
      </p:sp>
      <p:sp>
        <p:nvSpPr>
          <p:cNvPr id="9" name="Text 7"/>
          <p:cNvSpPr/>
          <p:nvPr/>
        </p:nvSpPr>
        <p:spPr>
          <a:xfrm>
            <a:off x="914400" y="3447288"/>
            <a:ext cx="104241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B2B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is the responsible choice here, and why?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594360" y="4270248"/>
            <a:ext cx="128016" cy="128016"/>
          </a:xfrm>
          <a:prstGeom prst="ellipse">
            <a:avLst/>
          </a:prstGeom>
          <a:solidFill>
            <a:srgbClr val="276B5D"/>
          </a:solidFill>
          <a:ln/>
        </p:spPr>
      </p:sp>
      <p:sp>
        <p:nvSpPr>
          <p:cNvPr id="11" name="Text 9"/>
          <p:cNvSpPr/>
          <p:nvPr/>
        </p:nvSpPr>
        <p:spPr>
          <a:xfrm>
            <a:off x="914400" y="4133088"/>
            <a:ext cx="104241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B2B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could the student calmly talk to a parent about screen time?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594360" y="4956048"/>
            <a:ext cx="128016" cy="128016"/>
          </a:xfrm>
          <a:prstGeom prst="ellipse">
            <a:avLst/>
          </a:prstGeom>
          <a:solidFill>
            <a:srgbClr val="276B5D"/>
          </a:solidFill>
          <a:ln/>
        </p:spPr>
      </p:sp>
      <p:sp>
        <p:nvSpPr>
          <p:cNvPr id="13" name="Text 11"/>
          <p:cNvSpPr/>
          <p:nvPr/>
        </p:nvSpPr>
        <p:spPr>
          <a:xfrm>
            <a:off x="914400" y="4818888"/>
            <a:ext cx="104241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B2B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might happen if the student ignores the family's rule?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457200" y="6510528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AA4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CyberSWAT · Grade 5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6F3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C98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TABLETOP 4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05156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B4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Copy-Paste Report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48640" y="1417320"/>
            <a:ext cx="11064240" cy="1417320"/>
          </a:xfrm>
          <a:prstGeom prst="roundRect">
            <a:avLst>
              <a:gd name="adj" fmla="val 5161"/>
            </a:avLst>
          </a:prstGeom>
          <a:solidFill>
            <a:srgbClr val="F3E2C2"/>
          </a:solidFill>
          <a:ln/>
        </p:spPr>
      </p:sp>
      <p:sp>
        <p:nvSpPr>
          <p:cNvPr id="5" name="Text 3"/>
          <p:cNvSpPr/>
          <p:nvPr/>
        </p:nvSpPr>
        <p:spPr>
          <a:xfrm>
            <a:off x="822960" y="15544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7A56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SCENARIO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822960" y="1828800"/>
            <a:ext cx="1051560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i="1" dirty="0">
                <a:solidFill>
                  <a:srgbClr val="1B2B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While researching for a report, a student finds a paragraph online that says exactly what they want to say and considers copying it directly.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548640" y="310896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76B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DISCUSSION QUESTIONS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594360" y="3584448"/>
            <a:ext cx="128016" cy="128016"/>
          </a:xfrm>
          <a:prstGeom prst="ellipse">
            <a:avLst/>
          </a:prstGeom>
          <a:solidFill>
            <a:srgbClr val="276B5D"/>
          </a:solidFill>
          <a:ln/>
        </p:spPr>
      </p:sp>
      <p:sp>
        <p:nvSpPr>
          <p:cNvPr id="9" name="Text 7"/>
          <p:cNvSpPr/>
          <p:nvPr/>
        </p:nvSpPr>
        <p:spPr>
          <a:xfrm>
            <a:off x="914400" y="3447288"/>
            <a:ext cx="104241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B2B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is copying someone else's words without credit a problem?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594360" y="4270248"/>
            <a:ext cx="128016" cy="128016"/>
          </a:xfrm>
          <a:prstGeom prst="ellipse">
            <a:avLst/>
          </a:prstGeom>
          <a:solidFill>
            <a:srgbClr val="276B5D"/>
          </a:solidFill>
          <a:ln/>
        </p:spPr>
      </p:sp>
      <p:sp>
        <p:nvSpPr>
          <p:cNvPr id="11" name="Text 9"/>
          <p:cNvSpPr/>
          <p:nvPr/>
        </p:nvSpPr>
        <p:spPr>
          <a:xfrm>
            <a:off x="914400" y="4133088"/>
            <a:ext cx="104241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B2B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could the student do instead?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594360" y="4956048"/>
            <a:ext cx="128016" cy="128016"/>
          </a:xfrm>
          <a:prstGeom prst="ellipse">
            <a:avLst/>
          </a:prstGeom>
          <a:solidFill>
            <a:srgbClr val="276B5D"/>
          </a:solidFill>
          <a:ln/>
        </p:spPr>
      </p:sp>
      <p:sp>
        <p:nvSpPr>
          <p:cNvPr id="13" name="Text 11"/>
          <p:cNvSpPr/>
          <p:nvPr/>
        </p:nvSpPr>
        <p:spPr>
          <a:xfrm>
            <a:off x="914400" y="4818888"/>
            <a:ext cx="104241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B2B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does this connect to being a responsible digital citizen?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457200" y="6510528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AA4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CyberSWAT · Grade 5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1B2B4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468880"/>
            <a:ext cx="73152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CyberSWAT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640080" y="31089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98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Grade 5 · Ready for Middle School Tech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640080" y="3840480"/>
            <a:ext cx="5486400" cy="18288"/>
          </a:xfrm>
          <a:prstGeom prst="rect">
            <a:avLst/>
          </a:prstGeom>
          <a:solidFill>
            <a:srgbClr val="3A4A64"/>
          </a:solidFill>
          <a:ln/>
        </p:spPr>
      </p:sp>
      <p:sp>
        <p:nvSpPr>
          <p:cNvPr id="5" name="Text 3"/>
          <p:cNvSpPr/>
          <p:nvPr/>
        </p:nvSpPr>
        <p:spPr>
          <a:xfrm>
            <a:off x="640080" y="4069080"/>
            <a:ext cx="8686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AEB9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Fictional scenarios only. Keeps students' real experiences private. Report concerns to a trusted adult.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2026-08-20T12:03:23Z</dcterms:created>
  <dcterms:modified xsi:type="dcterms:W3CDTF">2026-08-20T12:03:23Z</dcterms:modified>
</cp:coreProperties>
</file>