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customXml" Target="../customXml/item2.xml"/><Relationship Id="rId3" Type="http://schemas.openxmlformats.org/officeDocument/2006/relationships/presProps" Target="presProps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customXml" Target="../customXml/item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customXml" Target="../customXml/item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8FC0C9"/>
                </a:solidFill>
                <a:latin typeface="Calibri"/>
              </a:rPr>
              <a:t>GRADE 12 · DIGITAL CITIZENSHIP &amp; ONLINE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mbria"/>
              </a:rPr>
              <a:t>CyberSWAT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40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D3E2E5"/>
                </a:solidFill>
                <a:latin typeface="Calibri"/>
              </a:rPr>
              <a:t>Digital Leadership, AI &amp; Lifelong Cyber Citizenship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B7791F"/>
                </a:solidFill>
                <a:latin typeface="Calibri"/>
              </a:rPr>
              <a:t>Senior Capstone — Ready for Launch  ·  Classroom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B7791F"/>
                </a:solidFill>
                <a:latin typeface="Calibri"/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Digital Leadership &amp; Legacy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8FC0C9"/>
                </a:solidFill>
                <a:latin typeface="Calibri"/>
              </a:rPr>
              <a:t>Essential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2E5"/>
                </a:solidFill>
                <a:latin typeface="Calibri"/>
              </a:rPr>
              <a:t>As I graduate, what kind of leader do I want to be online — and what legacy do I want to leave?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OPENING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What Will Your Example Be?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3048"/>
                </a:solidFill>
                <a:latin typeface="Calibri"/>
              </a:rPr>
              <a:t>“When you graduate, what do you want younger students — and your future self — to say your online example was?”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Write 60 seconds  ·  share with a partner  ·  chart the leadership qualities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You’re not the newest person online anymore — you’re the experienced one. That makes you a leader.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MINI-LESSON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The Digital Leadership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37360"/>
            <a:ext cx="36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0" y="1737360"/>
            <a:ext cx="59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Set the example with your choices — even when no one’s watching.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33472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33472"/>
            <a:ext cx="36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MENTOR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0" y="2633472"/>
            <a:ext cx="59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Help others, especially younger students, make safer choices.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29584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29584"/>
            <a:ext cx="36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PROTECT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0" y="3529584"/>
            <a:ext cx="59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Look out for others’ safety, privacy, and dignity.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25696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425696"/>
            <a:ext cx="36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SPEAK 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0" y="4425696"/>
            <a:ext cx="59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Be an upstander against harm, misinformation, and pressure.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21808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431536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3153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321808"/>
            <a:ext cx="36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LEGACY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0" y="5321808"/>
            <a:ext cx="59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Build influence and a footprint you’ll be proud of.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One person leading well gives everyone else permission to do the same.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SCENARIO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Lead the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3048"/>
                </a:solidFill>
                <a:latin typeface="Calibri"/>
              </a:rPr>
              <a:t>A younger student you know is being pressured in a group chat — and is scared to tell an adult.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Which leadership habits does this call for?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What would you say and do — and when do you bring in a trusted adult?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MODEL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Someone in Their Corner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18288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1E3048"/>
                </a:solidFill>
                <a:latin typeface="Cambria"/>
              </a:rPr>
              <a:t>“You’re not in trouble for asking me. Let’s not respond or reshare anything — I’ll help you save what happened, and we’ll take it to a trusted adult together.”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EXIT TICKET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Before You 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97380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973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83080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222B33"/>
                </a:solidFill>
                <a:latin typeface="Calibri"/>
              </a:rPr>
              <a:t>One way I’ll lead by example online is…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79192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793492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9349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79192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222B33"/>
                </a:solidFill>
                <a:latin typeface="Calibri"/>
              </a:rPr>
              <a:t>One way I could mentor or support someone is…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75304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689604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896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575304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222B33"/>
                </a:solidFill>
                <a:latin typeface="Calibri"/>
              </a:rPr>
              <a:t>One legacy I want to leave is…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B7791F"/>
                </a:solidFill>
                <a:latin typeface="Calibri"/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AI, Ethics &amp; Human Judgment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8FC0C9"/>
                </a:solidFill>
                <a:latin typeface="Calibri"/>
              </a:rPr>
              <a:t>Essential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2E5"/>
                </a:solidFill>
                <a:latin typeface="Calibri"/>
              </a:rPr>
              <a:t>How do I use AI as a powerful tool without handing over my honesty, judgment, or accountability?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2 · OPENING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Help — or Cost?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3048"/>
                </a:solidFill>
                <a:latin typeface="Calibri"/>
              </a:rPr>
              <a:t>“Where does AI genuinely help you — and where could leaning on it cost you something important?”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Helps: drafting, studying, brainstorming   ·   Costs: honesty, skill, accuracy, judgment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The question isn’t whether to use AI — it’s how to stay honest and in charge while you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2 · MINI-LESSON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Keep a Human in the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37360"/>
            <a:ext cx="36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VERIFY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0" y="1737360"/>
            <a:ext cx="59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AI can be confidently wrong — check facts, sources, and bias.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33472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33472"/>
            <a:ext cx="36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DISCLOSE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0" y="2633472"/>
            <a:ext cx="59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Be transparent when work is AI-assisted; follow integrity rules.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29584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29584"/>
            <a:ext cx="36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OWN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0" y="3529584"/>
            <a:ext cx="59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You’re accountable for whatever you submit, publish, or decide.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25696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425696"/>
            <a:ext cx="36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PROTECT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0" y="4425696"/>
            <a:ext cx="59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Don’t feed private or sensitive data into AI tools.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21808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431536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3153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321808"/>
            <a:ext cx="36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JUDGE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0" y="5321808"/>
            <a:ext cx="59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AI can advise — you decide. Keep human judgment in charge.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AI models patterns of intelligence; it doesn’t understand truth, ethics, or your responsibility.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2 · RESPONSIBLE OR NOT? + POLICY · 30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Judge It, Then Write Your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5380000" cy="34000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00000"/>
            <a:ext cx="490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048"/>
                </a:solidFill>
                <a:latin typeface="Cambria"/>
              </a:rPr>
              <a:t>Responsible or Not?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80000"/>
            <a:ext cx="4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Responsible · needs a fix · crosses the line?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0000"/>
            <a:ext cx="4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Which check does it fail?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0000"/>
            <a:ext cx="4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What’s the responsible version?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40000"/>
            <a:ext cx="4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Where must the human stay in charge?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0000" y="1783080"/>
            <a:ext cx="5380000" cy="3400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0000" y="1900000"/>
            <a:ext cx="490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048"/>
                </a:solidFill>
                <a:latin typeface="Cambria"/>
              </a:rPr>
              <a:t>Your AI-Use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0000" y="2380000"/>
            <a:ext cx="4900000" cy="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How I’ll verify output.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0000" y="2850000"/>
            <a:ext cx="4900000" cy="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How I’ll disclose AI help.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0000" y="3320000"/>
            <a:ext cx="4900000" cy="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How I’ll stay accountable.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000" y="3790000"/>
            <a:ext cx="4900000" cy="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What data I’ll protect.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0000" y="4260000"/>
            <a:ext cx="4900000" cy="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Where judgment stays human.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3000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Follow your school’s AI and academic-integrity policies.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2 · EXIT TICKET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Before You 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97380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973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83080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222B33"/>
                </a:solidFill>
                <a:latin typeface="Calibri"/>
              </a:rPr>
              <a:t>One responsible way I’ll use AI is…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79192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793492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9349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79192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222B33"/>
                </a:solidFill>
                <a:latin typeface="Calibri"/>
              </a:rPr>
              <a:t>One risk of AI I’ll watch for is…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75304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689604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896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575304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222B33"/>
                </a:solidFill>
                <a:latin typeface="Calibri"/>
              </a:rPr>
              <a:t>One decision a human must stay in charge of is…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B7791F"/>
                </a:solidFill>
                <a:latin typeface="Calibri"/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Lifelong Cyber Citizenship &amp; Independence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8FC0C9"/>
                </a:solidFill>
                <a:latin typeface="Calibri"/>
              </a:rPr>
              <a:t>Essential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2E5"/>
                </a:solidFill>
                <a:latin typeface="Calibri"/>
              </a:rPr>
              <a:t>When the school safety net is gone, how do I own my security, privacy, and citizenship for life?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3 · OPENING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Who Fixes It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3048"/>
                </a:solidFill>
                <a:latin typeface="Calibri"/>
              </a:rPr>
              <a:t>“After graduation, who fixes it when your account is hacked, your data leaks, or you’re not sure what’s true?”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No school IT  ·  no automatic filters  ·  it’s on you — plus the resources you set up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The safety net doesn’t disappear — it becomes you, plus the resources you choose.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3 · MINI-LESSON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Your Lifelong Citizenship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37360"/>
            <a:ext cx="36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SECURE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0" y="1737360"/>
            <a:ext cx="59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Run your own stack — MFA, password manager, backups, updates.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33472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33472"/>
            <a:ext cx="36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PRIVATE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0" y="2633472"/>
            <a:ext cx="59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Manage privacy over a lifetime; shrink your exposure.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29584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29584"/>
            <a:ext cx="36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INFORMED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0" y="3529584"/>
            <a:ext cx="59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Verify before you believe or vote; resist manipulation.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25696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425696"/>
            <a:ext cx="36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CONNECTED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0" y="4425696"/>
            <a:ext cx="59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Know the adult resources for help, reporting, recovery.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21808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431536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3153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321808"/>
            <a:ext cx="36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GROWING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0" y="5321808"/>
            <a:ext cx="59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Keep learning — the tech and threats will keep changing.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Informed, secure citizens keep themselves and their communities safer.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3 · ACTIVITY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Ready or Not?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00000"/>
            <a:ext cx="2020000" cy="12000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50000"/>
            <a:ext cx="202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3048"/>
                </a:solidFill>
                <a:latin typeface="Cambria"/>
              </a:rPr>
              <a:t>SECURE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08640" y="2000000"/>
            <a:ext cx="2020000" cy="12000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8640" y="2350000"/>
            <a:ext cx="202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3048"/>
                </a:solidFill>
                <a:latin typeface="Cambria"/>
              </a:rPr>
              <a:t>PRIVATE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868640" y="2000000"/>
            <a:ext cx="2020000" cy="12000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8640" y="2350000"/>
            <a:ext cx="202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3048"/>
                </a:solidFill>
                <a:latin typeface="Cambria"/>
              </a:rPr>
              <a:t>INFORMED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28640" y="2000000"/>
            <a:ext cx="2020000" cy="12000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28640" y="2350000"/>
            <a:ext cx="202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3048"/>
                </a:solidFill>
                <a:latin typeface="Cambria"/>
              </a:rPr>
              <a:t>CONNECTED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8640" y="2000000"/>
            <a:ext cx="2020000" cy="12000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8640" y="2350000"/>
            <a:ext cx="202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E3048"/>
                </a:solidFill>
                <a:latin typeface="Cambria"/>
              </a:rPr>
              <a:t>GROWING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0000"/>
            <a:ext cx="1106424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Calibri"/>
              </a:rPr>
              <a:t>Which commitment does each scenario test? What would a prepared, independent adult do?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50000"/>
            <a:ext cx="1106424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4A4A4A"/>
                </a:solidFill>
                <a:latin typeface="Calibri"/>
              </a:rPr>
              <a:t>Scenarios: first solo setup · a privacy choice · a viral political claim · a hack with no IT · a new tool · a breach notice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3 · MODEL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Ready Beats Sorry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18288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1E3048"/>
                </a:solidFill>
                <a:latin typeface="Cambria"/>
              </a:rPr>
              <a:t>“No one sets this up for me anymore, so I will — MFA everywhere, a password manager, backups, and a list of who to call if something goes wrong.”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Exit ticket:  a security-stack step · how you’ll stay informed · a resource you’ll carry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000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B7791F"/>
                </a:solidFill>
                <a:latin typeface="Calibri"/>
              </a:rPr>
              <a:t>CAPSTONE · YOU ARE THE LEADER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57400"/>
            <a:ext cx="105156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Lead · Use AI Wisely · Own It for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0000"/>
            <a:ext cx="105156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2E5"/>
                </a:solidFill>
                <a:latin typeface="Calibri"/>
              </a:rPr>
              <a:t>Model the way for others. Keep human judgment in charge of AI. Carry your security, privacy, and citizenship into independence.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800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8FC0C9"/>
                </a:solidFill>
                <a:latin typeface="Calibri"/>
              </a:rPr>
              <a:t>My launch plan — first three moves:  ______________________________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50000"/>
            <a:ext cx="105156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B7791F"/>
                </a:solidFill>
                <a:latin typeface="Cambria"/>
              </a:rPr>
              <a:t>Congratulations, Class — now go lead well.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0A6916CC0054428A1B563C9E1D847E" ma:contentTypeVersion="3" ma:contentTypeDescription="Create a new document." ma:contentTypeScope="" ma:versionID="10ea2242063a99e91138254cb92189b8">
  <xsd:schema xmlns:xsd="http://www.w3.org/2001/XMLSchema" xmlns:xs="http://www.w3.org/2001/XMLSchema" xmlns:p="http://schemas.microsoft.com/office/2006/metadata/properties" xmlns:ns2="14615ecc-17b4-4e85-aaf4-441117114b7b" targetNamespace="http://schemas.microsoft.com/office/2006/metadata/properties" ma:root="true" ma:fieldsID="4c0fd4eb01a6732c2ccae24947f0835c" ns2:_="">
    <xsd:import namespace="14615ecc-17b4-4e85-aaf4-441117114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615ecc-17b4-4e85-aaf4-441117114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4792B95-5E21-4F79-8484-5F1DDAEC59D9}"/>
</file>

<file path=customXml/itemProps2.xml><?xml version="1.0" encoding="utf-8"?>
<ds:datastoreItem xmlns:ds="http://schemas.openxmlformats.org/officeDocument/2006/customXml" ds:itemID="{274D5A18-F014-4EC9-A55A-B9B04C5B3CF5}"/>
</file>

<file path=customXml/itemProps3.xml><?xml version="1.0" encoding="utf-8"?>
<ds:datastoreItem xmlns:ds="http://schemas.openxmlformats.org/officeDocument/2006/customXml" ds:itemID="{5283ACC9-66CF-4672-88EF-18FF5BB71405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0x010100840A6916CC0054428A1B563C9E1D847E</vt:lpwstr>
  </property>
</Properties>
</file>