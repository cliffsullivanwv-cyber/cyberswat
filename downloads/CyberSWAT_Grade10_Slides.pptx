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ustomXml" Target="../customXml/item2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C0C9"/>
                </a:solidFill>
                <a:latin typeface="Calibri"/>
              </a:rPr>
              <a:t>GRADE 10 · DIGITAL CITIZENSHIP &amp; ONLINE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mbria"/>
              </a:rPr>
              <a:t>CyberSWAT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D3E2E5"/>
                </a:solidFill>
                <a:latin typeface="Calibri"/>
              </a:rPr>
              <a:t>Information Integrity, Digital Influence &amp; Ethical Citizenship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B7791F"/>
                </a:solidFill>
                <a:latin typeface="Calibri"/>
              </a:rPr>
              <a:t>High-School Foundations  ·  Classroom Slides — project while you teach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Information Integrity &amp; Media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How do I decide what’s true before I trust or share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When Did Something Online Fool You?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“Think of the last thing you saw online that turned out to be false. How did you figure it out?”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Write 60 seconds  ·  share with a partner  ·  chart the ‘tells’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In a feed full of AI-made content, you can’t trust a gut feeling — you need a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The SIFT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7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0" y="1737360"/>
            <a:ext cx="58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Notice your reaction. Don’t share on emotion — pause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51760"/>
            <a:ext cx="37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INVESTIGATE the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000" y="2651760"/>
            <a:ext cx="58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Who’s behind it? Leave the post and look them up (lateral reading).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758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758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66160"/>
            <a:ext cx="37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FIND better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0000" y="3566160"/>
            <a:ext cx="58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Do trusted sources report the same thing? Search the claim.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902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90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80560"/>
            <a:ext cx="37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TRACE to the original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000" y="4480560"/>
            <a:ext cx="58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Follow quotes, images, and stats back to where they started.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AI red flags: warped hands/text, mismatched audio, no original source, brand-new accounts.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VERIFY BEFORE YOU SHARE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Run It Through SIFT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A shocking post with a dramatic image and a big statistic is spreading fast. People demand you react.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What single check would settle whether it’s real?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Who benefits if you share it without checking?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MODEL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Pause, Then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E3048"/>
                </a:solidFill>
                <a:latin typeface="Cambria"/>
              </a:rPr>
              <a:t>“This made me want to share it immediately — that’s my signal to stop. Let me check who posted it, find trusted coverage, and trace the image before I trust it.”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EXIT TICKET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Before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SIFT step I will actually use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sign that content might be AI-generated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reason to verify before I share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Algorithms, the Attention Economy &amp; Digital Wellbeing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How do the systems behind my apps influence what I see, think, and feel — and how do I stay in control?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Why Is It So Easy to Lose an Hour?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“Why is it so easy to lose an hour in a feed — and who benefits when you do?”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It’s endless  ·  it autoplays  ·  it shows you exactly what keeps you 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Your attention is what these apps sell. The feed isn’t random — it’s engineered.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How Feeds Hold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7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Infinite scroll / autoplay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0" y="1737360"/>
            <a:ext cx="58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Removes natural stopping points so you keep going.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51760"/>
            <a:ext cx="37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Streaks &amp;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000" y="2651760"/>
            <a:ext cx="58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Create pressure and FOMO to come 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758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758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66160"/>
            <a:ext cx="37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Personalized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0000" y="3566160"/>
            <a:ext cx="58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Feeds you more of what held you — outrage or comparison.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902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90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80560"/>
            <a:ext cx="37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Dark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000" y="4480560"/>
            <a:ext cx="58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Make quitting, canceling, or privacy settings hard to find.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The counter-move is intention — decide before you open, not while you scroll.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SPOT THE DESIGN + AUDIT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See the Design, Set the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380000" cy="34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00000"/>
            <a:ext cx="49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048"/>
                </a:solidFill>
                <a:latin typeface="Cambria"/>
              </a:rPr>
              <a:t>Spot the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8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Name the pattern being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What is it engineering you to 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Propose a healthier choice or setting.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4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Ask: what would a person in control 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000" y="1783080"/>
            <a:ext cx="5380000" cy="3400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0000" y="1900000"/>
            <a:ext cx="49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048"/>
                </a:solidFill>
                <a:latin typeface="Cambria"/>
              </a:rPr>
              <a:t>Digital Wellbeing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000" y="238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Where does my time go?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000" y="290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Which pattern pulls hardest?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000" y="342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Two boundaries I’ll 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000" y="394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A trusted adult I can talk 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3000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Keep it general — you don’t have to share personal details.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EXIT TICKET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Before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way a feed is designed to hold my attention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boundary I will set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person I can talk to about online pressure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Digital Ethics, Rights &amp; Responsible 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What are my rights and responsibilities as a creator, sharer, and citizen online?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What Do You Owe Your Audience?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“When you post or share something, who could it affect — and what do you owe them?”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The people in it  ·  the original creator  ·  your audience  · 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Having a platform — even a small one — is influence. Influence comes with responsibility.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The Ethical Influence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7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TRUE?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0" y="1737360"/>
            <a:ext cx="58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Have I verified it — or am I spreading something unchecked?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7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FAIR / CREDITED?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000" y="2633472"/>
            <a:ext cx="58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Did I credit the creator and disclose AI-generated work?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7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CONSENTED?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0000" y="3529584"/>
            <a:ext cx="58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Do I have the right to share this person or their content?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7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KIND?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000" y="4425696"/>
            <a:ext cx="58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Could this humiliate, target, or harm someone?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7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3048"/>
                </a:solidFill>
                <a:latin typeface="Cambria"/>
              </a:rPr>
              <a:t>LAWFUL?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0000" y="5321808"/>
            <a:ext cx="58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222B33"/>
                </a:solidFill>
                <a:latin typeface="Calibri"/>
              </a:rPr>
              <a:t>Does it cross into harassment, threats, or illegal use?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Any ✗ means pause, fix, or don’t post.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ACTIVITY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Ethical, Needs a Fix, or Not OK?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50000"/>
            <a:ext cx="348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20000"/>
            <a:ext cx="348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ETHICAL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0000"/>
            <a:ext cx="348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22B33"/>
                </a:solidFill>
                <a:latin typeface="Calibri"/>
              </a:rPr>
              <a:t>post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8640" y="1950000"/>
            <a:ext cx="348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8640" y="2120000"/>
            <a:ext cx="348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NEEDS A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640" y="2650000"/>
            <a:ext cx="348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22B33"/>
                </a:solidFill>
                <a:latin typeface="Calibri"/>
              </a:rPr>
              <a:t>credit / consent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8640" y="1950000"/>
            <a:ext cx="348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8640" y="2120000"/>
            <a:ext cx="348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NOT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8640" y="2650000"/>
            <a:ext cx="348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22B33"/>
                </a:solidFill>
                <a:latin typeface="Calibri"/>
              </a:rPr>
              <a:t>report /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50000"/>
            <a:ext cx="1106424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Calibri"/>
              </a:rPr>
              <a:t>Sort each card. Which check does it fail — and what’s the fix?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00000"/>
            <a:ext cx="1106424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4A4A4A"/>
                </a:solidFill>
                <a:latin typeface="Calibri"/>
              </a:rPr>
              <a:t>Cards: repost no credit · undisclosed AI · sharing a private message · linked quote · clout post · reporting a fake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MODEL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3048"/>
                </a:solidFill>
                <a:latin typeface="Cambria"/>
              </a:rPr>
              <a:t>Upstander, Not Amplifier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E3048"/>
                </a:solidFill>
                <a:latin typeface="Cambria"/>
              </a:rPr>
              <a:t>“That crosses a line — let’s not share it. Credit the original creator, and if it targets someone, preserve it and tell a trusted adult instead of piling 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Exit ticket:  an ethical check · a way to credit or disclose AI · a situation you’d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Verify · Notice · Create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000"/>
            <a:ext cx="10515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SIFT before you share. See how the feed is built. Credit, consent, and be kind before you post.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000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FC0C9"/>
                </a:solidFill>
                <a:latin typeface="Calibri"/>
              </a:rPr>
              <a:t>My trusted adults / school reporting pathway:  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0A6916CC0054428A1B563C9E1D847E" ma:contentTypeVersion="3" ma:contentTypeDescription="Create a new document." ma:contentTypeScope="" ma:versionID="10ea2242063a99e91138254cb92189b8">
  <xsd:schema xmlns:xsd="http://www.w3.org/2001/XMLSchema" xmlns:xs="http://www.w3.org/2001/XMLSchema" xmlns:p="http://schemas.microsoft.com/office/2006/metadata/properties" xmlns:ns2="14615ecc-17b4-4e85-aaf4-441117114b7b" targetNamespace="http://schemas.microsoft.com/office/2006/metadata/properties" ma:root="true" ma:fieldsID="4c0fd4eb01a6732c2ccae24947f0835c" ns2:_="">
    <xsd:import namespace="14615ecc-17b4-4e85-aaf4-441117114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15ecc-17b4-4e85-aaf4-441117114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CA5D58-36CE-497F-B0AE-0E818CAA8759}"/>
</file>

<file path=customXml/itemProps2.xml><?xml version="1.0" encoding="utf-8"?>
<ds:datastoreItem xmlns:ds="http://schemas.openxmlformats.org/officeDocument/2006/customXml" ds:itemID="{A241CCA5-7A63-4B96-91D0-7E10C3AF8A6C}"/>
</file>

<file path=customXml/itemProps3.xml><?xml version="1.0" encoding="utf-8"?>
<ds:datastoreItem xmlns:ds="http://schemas.openxmlformats.org/officeDocument/2006/customXml" ds:itemID="{066F3097-9683-4775-A416-FE9FE1F544A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0x010100840A6916CC0054428A1B563C9E1D847E</vt:lpwstr>
  </property>
</Properties>
</file>