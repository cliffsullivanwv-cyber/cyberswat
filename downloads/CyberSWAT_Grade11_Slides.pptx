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customXml" Target="../customXml/item1.xml"/><Relationship Id="rId3" Type="http://schemas.openxmlformats.org/officeDocument/2006/relationships/presProps" Target="presProps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customXml" Target="../customXml/item3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8FC0C9"/>
                </a:solidFill>
                <a:latin typeface="Calibri"/>
              </a:rPr>
              <a:t>GRADE 11 · DIGITAL CITIZENSHIP &amp; ONLINE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mbria"/>
              </a:rPr>
              <a:t>CyberSWAT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40"/>
            <a:ext cx="10515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D3E2E5"/>
                </a:solidFill>
                <a:latin typeface="Calibri"/>
              </a:rPr>
              <a:t>Digital Identity, Financial Safety &amp; Cyber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B7791F"/>
                </a:solidFill>
                <a:latin typeface="Calibri"/>
              </a:rPr>
              <a:t>College &amp; Career Transition  ·  Classroom Slides — project while you teach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Your Professional Digital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C0C9"/>
                </a:solidFill>
                <a:latin typeface="Calibri"/>
              </a:rPr>
              <a:t>Essential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2E5"/>
                </a:solidFill>
                <a:latin typeface="Calibri"/>
              </a:rPr>
              <a:t>How do I build a digital identity that opens doors as I move toward college and career?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OPENING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What Does a Search Reveal?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“A college or employer searches your name and finds… what? Now — what would you want them to find?”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Write 60 seconds  ·  share with a partner  ·  chart the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You already have a digital identity. Grade 11 is where you shape it into an asset — on purpose.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MINI-LESSON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The Professional Presence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SEARCHABLE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0" y="1737360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Do the right things come up when someone searches you?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33472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PROFESSIONAL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0" y="2633472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Is your email, handle, and tone right for an employer?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29584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CONSISTENT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0000" y="3529584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Is your name and presence accurate across platforms?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25696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25696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PRIVATE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0000" y="4425696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Is your personal life locked down and separated?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21808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21808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PROOF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0000" y="5321808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Is there evidence of your skills — a portfolio or profile?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A professional presence gives a decision-maker a reason to say yes.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SCENARIO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Run It Through the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A finalist for an internship has an unprofessional email, a mixed personal feed, and no visible proof of skills.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Which of the five checks does it fail?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22B33"/>
                </a:solidFill>
                <a:latin typeface="Calibri"/>
              </a:rPr>
              <a:t>What one change most improves how a decision-maker sees them?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BUILD A PLAN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Your Presence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64240" cy="786384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38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CLEAN 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0" y="1737360"/>
            <a:ext cx="57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A professional email and handle.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11064240" cy="786384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614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51760"/>
            <a:ext cx="38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PUBLIC vs PRIVATE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0" y="2651760"/>
            <a:ext cx="57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Make the professional visible; lock the personal.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11064240" cy="786384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758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758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66160"/>
            <a:ext cx="38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0000" y="3566160"/>
            <a:ext cx="57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Build one piece that shows your skills.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11064240" cy="786384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902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902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80560"/>
            <a:ext cx="386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0000" y="4480560"/>
            <a:ext cx="57300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Line up someone who can vouch for you.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Two groups model theirs — the class picks the strongest door-opening move.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MODEL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Coaching a Peer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E3048"/>
                </a:solidFill>
                <a:latin typeface="Cambria"/>
              </a:rPr>
              <a:t>“Start with a clean email and handle, lock your personal stuff to friends-only, and put one project where people can see it. That’s a presence that opens doors.”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1 · EXIT TICKET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Before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83080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professional-presence upgrade I’ll make is…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7919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79192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thing I’ll keep private and separate is…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7530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75304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piece of proof of my skills I can build is…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Financial Safety &amp; Identity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C0C9"/>
                </a:solidFill>
                <a:latin typeface="Calibri"/>
              </a:rPr>
              <a:t>Essential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2E5"/>
                </a:solidFill>
                <a:latin typeface="Calibri"/>
              </a:rPr>
              <a:t>How do I protect my money and identity from fraud as I start working, banking, and transacting online?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OPENING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Why Target Teens?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“Why are teens and new workers a favorite target for scammers?”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New to money  ·  eager for a first job  ·  trusting  ·  always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Scammers follow the money and the inexperience. Knowing the playbook protects your first paycheck.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MINI-LESSON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Spot the Fraud, Secure the Transaction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0" y="1737360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Is the sender or offer real? Check an official, independent channel.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33472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NEVER PAY TO GET 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0" y="2633472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Real jobs and prizes don’t ask you to pay or ‘refund’ first.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29584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PROTECT PII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0000" y="3529584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Never share SSN, full card numbers, or codes by message.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25696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25696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SECURE THE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0000" y="4425696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Only transact on encrypted sites (HTTPS) and official apps.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21808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21808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REPORT &amp; RECOVER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0000" y="5321808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If hit: stop, tell an adult, change passwords, freeze credit.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Passwords, MFA, and encryption protect your money.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LEGIT OR FRAUD? + PLAN · 30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Spot It, Then Protect Yourself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5380000" cy="34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00000"/>
            <a:ext cx="49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048"/>
                </a:solidFill>
                <a:latin typeface="Cambria"/>
              </a:rPr>
              <a:t>Legit or Fraud?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8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Name the scam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Mark the red flags.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What single check would prove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40000"/>
            <a:ext cx="4900000" cy="4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The safe move: verify · refuse · report.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0000" y="1783080"/>
            <a:ext cx="5380000" cy="3400000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0000" y="1900000"/>
            <a:ext cx="49000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1E3048"/>
                </a:solidFill>
                <a:latin typeface="Cambria"/>
              </a:rPr>
              <a:t>Money &amp; Identity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0000" y="2360000"/>
            <a:ext cx="49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Verify before paying.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0000" y="2800000"/>
            <a:ext cx="49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Protect PII (SSN, cards, birthdate).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0000" y="3240000"/>
            <a:ext cx="49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MFA + password manager.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000" y="3680000"/>
            <a:ext cx="49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Secure channels (HTTPS, official apps).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0000" y="4120000"/>
            <a:ext cx="49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222B33"/>
                </a:solidFill>
                <a:latin typeface="Calibri"/>
              </a:rPr>
              <a:t> •  If compromised: contain + report + freeze.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3000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General actions only — never write real account numbers or PII.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2 · EXIT TICKET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Before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73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83080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scam that targets young adults I can spot is…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7919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934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679192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way I’ll protect my PII or money is…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7530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8960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75304"/>
            <a:ext cx="960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0">
                <a:solidFill>
                  <a:srgbClr val="222B33"/>
                </a:solidFill>
                <a:latin typeface="Calibri"/>
              </a:rPr>
              <a:t>One step I’d take if compromised is…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mbria"/>
              </a:rPr>
              <a:t>Digital Law, Your Rights &amp; Cyber-Ready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8FC0C9"/>
                </a:solidFill>
                <a:latin typeface="Calibri"/>
              </a:rPr>
              <a:t>Essential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2E5"/>
                </a:solidFill>
                <a:latin typeface="Calibri"/>
              </a:rPr>
              <a:t>As a near-adult, what are my digital rights, my legal responsibilities, and how do I think like a defender?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OPENING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What Changes at 18?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3048"/>
                </a:solidFill>
                <a:latin typeface="Calibri"/>
              </a:rPr>
              <a:t>“As you approach 18, what changes about your responsibility for what you post, sign, or agree to?”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22B33"/>
                </a:solidFill>
                <a:latin typeface="Calibri"/>
              </a:rPr>
              <a:t>Contracts become binding  ·  some actions carry legal weight  ·  ‘I didn’t read it’ isn’t a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Rights and responsibilities grow together — and a defender always has a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MINI-LESSON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Your Personal Incident-Response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737360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RECOGNIZE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0" y="1737360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Notice the signs — a breach notice, a locked account, a strange charge.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633472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CONTAIN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0" y="2633472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Stop the damage — change passwords, sign out, freeze cards/credit.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29584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PRESERVE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0000" y="3529584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Save evidence — screenshots, emails, records.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25696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25696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0000" y="4425696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Tell an adult; report to the platform, bank, or authorities.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21808"/>
            <a:ext cx="11064240" cy="77724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solidFill>
            <a:srgbClr val="1C6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5321808"/>
            <a:ext cx="386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50" b="1">
                <a:solidFill>
                  <a:srgbClr val="1E3048"/>
                </a:solidFill>
                <a:latin typeface="Cambria"/>
              </a:rPr>
              <a:t>RECOVER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0000" y="5321808"/>
            <a:ext cx="57300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Calibri"/>
              </a:rPr>
              <a:t>Restore access, monitor accounts, update protections.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Defenders protect Confidentiality, Integrity, and Availability — the work of real cyber careers.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ACTIVITY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Right, Responsibility, or Report?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50000"/>
            <a:ext cx="3480000" cy="15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20000"/>
            <a:ext cx="348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E3048"/>
                </a:solidFill>
                <a:latin typeface="Cambria"/>
              </a:rPr>
              <a:t>A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0000"/>
            <a:ext cx="348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22B33"/>
                </a:solidFill>
                <a:latin typeface="Calibri"/>
              </a:rPr>
              <a:t>you can exercise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48640" y="1950000"/>
            <a:ext cx="3480000" cy="15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48640" y="2120000"/>
            <a:ext cx="348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E3048"/>
                </a:solidFill>
                <a:latin typeface="Cambria"/>
              </a:rPr>
              <a:t>A RESPONSIBILITY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640" y="2650000"/>
            <a:ext cx="348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22B33"/>
                </a:solidFill>
                <a:latin typeface="Calibri"/>
              </a:rPr>
              <a:t>you must meet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48640" y="1950000"/>
            <a:ext cx="3480000" cy="15000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48640" y="2120000"/>
            <a:ext cx="348000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E3048"/>
                </a:solidFill>
                <a:latin typeface="Cambria"/>
              </a:rPr>
              <a:t>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48640" y="2650000"/>
            <a:ext cx="3480000" cy="6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22B33"/>
                </a:solidFill>
                <a:latin typeface="Calibri"/>
              </a:rPr>
              <a:t>get help / escalate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50000"/>
            <a:ext cx="11064240" cy="5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Calibri"/>
              </a:rPr>
              <a:t>Sort each card. A card may involve more than one — explain your reasoning.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00000"/>
            <a:ext cx="1106424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>
                <a:solidFill>
                  <a:srgbClr val="4A4A4A"/>
                </a:solidFill>
                <a:latin typeface="Calibri"/>
              </a:rPr>
              <a:t>Cards: delete-my-data · read the terms · resharing defamation · using others’ work · a breach · being targeted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6E7E"/>
                </a:solidFill>
                <a:latin typeface="Calibri"/>
              </a:rPr>
              <a:t>LESSON 3 · MODEL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E3048"/>
                </a:solidFill>
                <a:latin typeface="Cambria"/>
              </a:rPr>
              <a:t>Calm, Planned, Cyber-Ready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1064240" cy="1828800"/>
          </a:xfrm>
          <a:prstGeom prst="rect">
            <a:avLst/>
          </a:prstGeom>
          <a:solidFill>
            <a:srgbClr val="E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E3048"/>
                </a:solidFill>
                <a:latin typeface="Cambria"/>
              </a:rPr>
              <a:t>“If my identity is hit, I don’t panic — I contain it, save evidence, report it, and recover. Having the plan first keeps a bad day from becoming a disaster.”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4A4A4A"/>
                </a:solidFill>
                <a:latin typeface="Calibri"/>
              </a:rPr>
              <a:t>Exit ticket:  a right or responsibility · an incident-response step · a cyber career that interests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3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B7791F"/>
                </a:solidFill>
                <a:latin typeface="Calibri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5156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mbria"/>
              </a:rPr>
              <a:t>Build · Protect · Defend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000"/>
            <a:ext cx="105156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>
                <a:solidFill>
                  <a:srgbClr val="D3E2E5"/>
                </a:solidFill>
                <a:latin typeface="Calibri"/>
              </a:rPr>
              <a:t>Build a professional identity. Guard your money and PII. Verify first, and have an incident-response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00000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8FC0C9"/>
                </a:solidFill>
                <a:latin typeface="Calibri"/>
              </a:rPr>
              <a:t>My trusted adults / reporting &amp; recovery contacts:  ______________________________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CyberSWAT · Grade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AAB2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0A6916CC0054428A1B563C9E1D847E" ma:contentTypeVersion="3" ma:contentTypeDescription="Create a new document." ma:contentTypeScope="" ma:versionID="10ea2242063a99e91138254cb92189b8">
  <xsd:schema xmlns:xsd="http://www.w3.org/2001/XMLSchema" xmlns:xs="http://www.w3.org/2001/XMLSchema" xmlns:p="http://schemas.microsoft.com/office/2006/metadata/properties" xmlns:ns2="14615ecc-17b4-4e85-aaf4-441117114b7b" targetNamespace="http://schemas.microsoft.com/office/2006/metadata/properties" ma:root="true" ma:fieldsID="4c0fd4eb01a6732c2ccae24947f0835c" ns2:_="">
    <xsd:import namespace="14615ecc-17b4-4e85-aaf4-441117114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615ecc-17b4-4e85-aaf4-441117114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248BB9B-9956-4653-B2B6-0D0BBF70DB0E}"/>
</file>

<file path=customXml/itemProps2.xml><?xml version="1.0" encoding="utf-8"?>
<ds:datastoreItem xmlns:ds="http://schemas.openxmlformats.org/officeDocument/2006/customXml" ds:itemID="{69F57D0B-EAA0-452A-B4A7-E6D15D8D9431}"/>
</file>

<file path=customXml/itemProps3.xml><?xml version="1.0" encoding="utf-8"?>
<ds:datastoreItem xmlns:ds="http://schemas.openxmlformats.org/officeDocument/2006/customXml" ds:itemID="{6345DA09-6BA5-465D-80A4-19327488F28A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0x010100840A6916CC0054428A1B563C9E1D847E</vt:lpwstr>
  </property>
</Properties>
</file>