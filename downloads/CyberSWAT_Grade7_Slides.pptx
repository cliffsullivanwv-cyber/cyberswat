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students. Grade 7 unit on protecting reputation, responding safely, and sharing responsibly. Aligned to WV SB 466.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norms: fictional examples only, no real names. Post your reporting pathway.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it general and fictional. No real names.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trade-offs: what could you gain vs. what could it cost later?</a:t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of 3–4. Debate the Pause cards: what makes it okay vs. risky?</a:t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which choices created the problem? What are consequences? Safe next steps now?</a:t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models calmly; students rewrite in their own words.</a:t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Collect exit tickets.</a:t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 the Stop-Do Not Forward-Tell chart. Keep sensitive content summarized and school-appropriate.</a:t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 responses; steer toward these.</a:t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Bystander watches; upstander safely acts or reports.</a:t>
            </a:r>
            <a:endParaRPr/>
          </a:p>
        </p:txBody>
      </p:sp>
      <p:sp>
        <p:nvSpPr>
          <p:cNvPr id="176" name="Google Shape;1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build both lists, then model the strongest “helps” response.</a:t>
            </a:r>
            <a:endParaRPr/>
          </a:p>
        </p:txBody>
      </p:sp>
      <p:sp>
        <p:nvSpPr>
          <p:cNvPr id="206" name="Google Shape;2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the safety note brief and factual. Then exit ticket.</a:t>
            </a:r>
            <a:endParaRPr/>
          </a:p>
        </p:txBody>
      </p:sp>
      <p:sp>
        <p:nvSpPr>
          <p:cNvPr id="223" name="Google Shape;2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the three-question anchor chart. Don’t have students search live questionable content.</a:t>
            </a:r>
            <a:endParaRPr/>
          </a:p>
        </p:txBody>
      </p:sp>
      <p:sp>
        <p:nvSpPr>
          <p:cNvPr id="238" name="Google Shape;23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vote to surface thinking.</a:t>
            </a:r>
            <a:endParaRPr/>
          </a:p>
        </p:txBody>
      </p:sp>
      <p:sp>
        <p:nvSpPr>
          <p:cNvPr id="249" name="Google Shape;2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this as an anchor chart.</a:t>
            </a:r>
            <a:endParaRPr/>
          </a:p>
        </p:txBody>
      </p:sp>
      <p:sp>
        <p:nvSpPr>
          <p:cNvPr id="262" name="Google Shape;26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Allowed / Ask permission or cite / Do not use or share.</a:t>
            </a:r>
            <a:endParaRPr/>
          </a:p>
        </p:txBody>
      </p:sp>
      <p:sp>
        <p:nvSpPr>
          <p:cNvPr id="287" name="Google Shape;2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what makes it questionable? How verify? Who is official?</a:t>
            </a:r>
            <a:endParaRPr/>
          </a:p>
        </p:txBody>
      </p:sp>
      <p:sp>
        <p:nvSpPr>
          <p:cNvPr id="315" name="Google Shape;31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Groups build a 4–5 step checklist, then complete the exit ticket.</a:t>
            </a:r>
            <a:endParaRPr/>
          </a:p>
        </p:txBody>
      </p:sp>
      <p:sp>
        <p:nvSpPr>
          <p:cNvPr id="329" name="Google Shape;3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naming the exact reporting pathway for your school.</a:t>
            </a:r>
            <a:endParaRPr/>
          </a:p>
        </p:txBody>
      </p:sp>
      <p:sp>
        <p:nvSpPr>
          <p:cNvPr id="341" name="Google Shape;3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CB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9CB8"/>
                </a:solidFill>
                <a:latin typeface="Calibri"/>
                <a:ea typeface="Calibri"/>
                <a:cs typeface="Calibri"/>
                <a:sym typeface="Calibri"/>
              </a:rPr>
              <a:t>GRADE 7 · DIGITAL CITIZENSHIP &amp; ONLINE SAFETY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77240" y="23774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CyberSWAT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E0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DDD6E0"/>
                </a:solidFill>
                <a:latin typeface="Calibri"/>
                <a:ea typeface="Calibri"/>
                <a:cs typeface="Calibri"/>
                <a:sym typeface="Calibri"/>
              </a:rPr>
              <a:t>Reputation, Responsibility &amp; Responsible Sharing Online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Classroom Slides · Project these while you teach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CB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9CB8"/>
                </a:solidFill>
                <a:latin typeface="Calibri"/>
                <a:ea typeface="Calibri"/>
                <a:cs typeface="Calibri"/>
                <a:sym typeface="Calibri"/>
              </a:rPr>
              <a:t>LESSON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Digital Reputation, Privacy &amp; Online Identity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34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097280" y="434340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protect my privacy, reputation, and safety when I post, share, or respond online?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1 · WARM-UP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Quick Write &amp; Pair Share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8640" y="1828800"/>
            <a:ext cx="11064240" cy="2103120"/>
          </a:xfrm>
          <a:prstGeom prst="roundRect">
            <a:avLst>
              <a:gd fmla="val 5217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914400" y="2011680"/>
            <a:ext cx="10332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“What is one online choice that could change how others see someone later?”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Write for 60 seconds  ·  share with a partner  ·  share general ideas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Your reputation is built by everything you post, send, like, comment on, or forward.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1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Reputation &amp; Long-Term Consequences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48640" y="1737360"/>
            <a:ext cx="11064240" cy="1143000"/>
          </a:xfrm>
          <a:prstGeom prst="roundRect">
            <a:avLst>
              <a:gd fmla="val 9600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914400" y="1828800"/>
            <a:ext cx="10332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digital reputation is the picture others build of you from your online trail. Screenshots and saved messages can make “temporary” last for years.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48640" y="3154680"/>
            <a:ext cx="5394960" cy="2697480"/>
          </a:xfrm>
          <a:prstGeom prst="roundRect">
            <a:avLst>
              <a:gd fmla="val 4068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822960" y="3337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BUILDS reputation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822960" y="384048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respectful comment on a class board. Sharing a project with permission.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217920" y="3154680"/>
            <a:ext cx="5394960" cy="2697480"/>
          </a:xfrm>
          <a:prstGeom prst="roundRect">
            <a:avLst>
              <a:gd fmla="val 4068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492240" y="3337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DAMAGES reputation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492240" y="384048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joke video about someone. A private screenshot reshared. An angry reply sent in the moment.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1 · ACTIVITY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“Post, Pause, or Protect” — in groups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48640" y="192024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73152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POST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3152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if school rules are followed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251960" y="192024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43484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PAUSE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43484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context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7955280" y="1920240"/>
            <a:ext cx="3429000" cy="2743200"/>
          </a:xfrm>
          <a:prstGeom prst="roundRect">
            <a:avLst>
              <a:gd fmla="val 4000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8138160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PROTECT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13816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keep private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0304F"/>
                </a:solidFill>
                <a:latin typeface="Calibri"/>
                <a:ea typeface="Calibri"/>
                <a:cs typeface="Calibri"/>
                <a:sym typeface="Calibri"/>
              </a:rPr>
              <a:t>Sort every card into a column — your group must agree and explain why.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Cards: full name + school · password · hobby · live location · private-message screenshot · class project (with permission) · school ID · respectful comment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1 · SCENARIO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When Something Is Already Out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fmla="val 8000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student posts a joke video about another student, then deletes it — but someone already saved it and reshared it. Now it’s spreading.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48640" y="3337560"/>
            <a:ext cx="11064240" cy="804672"/>
          </a:xfrm>
          <a:prstGeom prst="roundRect">
            <a:avLst>
              <a:gd fmla="val 13636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22960" y="3465576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822960" y="34655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1600200" y="3337560"/>
            <a:ext cx="21031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OWN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3566160" y="3337560"/>
            <a:ext cx="7772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Acknowledge the choice honestly.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48640" y="4270248"/>
            <a:ext cx="11064240" cy="804672"/>
          </a:xfrm>
          <a:prstGeom prst="roundRect">
            <a:avLst>
              <a:gd fmla="val 13636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822960" y="4398264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822960" y="43982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600200" y="4270248"/>
            <a:ext cx="21031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STOP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3566160" y="4270248"/>
            <a:ext cx="7772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Stop sharing it; ask others not to forward.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48640" y="5202936"/>
            <a:ext cx="11064240" cy="804672"/>
          </a:xfrm>
          <a:prstGeom prst="roundRect">
            <a:avLst>
              <a:gd fmla="val 13636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600200" y="5202936"/>
            <a:ext cx="21031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TELL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566160" y="5202936"/>
            <a:ext cx="7772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Tell a trusted adult so the harm can be addressed.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The Reputation-Repair move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1 · MODEL RESPONSE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822960" y="18745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C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49CB8"/>
                </a:solidFill>
                <a:latin typeface="Calibri"/>
                <a:ea typeface="Calibri"/>
                <a:cs typeface="Calibri"/>
                <a:sym typeface="Calibri"/>
              </a:rPr>
              <a:t>Repair sounds like responsibility — not self-attack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822960" y="2651760"/>
            <a:ext cx="10515600" cy="2286000"/>
          </a:xfrm>
          <a:prstGeom prst="roundRect">
            <a:avLst>
              <a:gd fmla="val 4000" name="adj"/>
            </a:avLst>
          </a:prstGeom>
          <a:solidFill>
            <a:srgbClr val="34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1280160" y="2743200"/>
            <a:ext cx="96012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“I should not have posted that. I need to stop sharing it, ask others not to forward it, and tell a trusted adult so the harm can be addressed.”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9C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49CB8"/>
                </a:solidFill>
                <a:latin typeface="Calibri"/>
                <a:ea typeface="Calibri"/>
                <a:cs typeface="Calibri"/>
                <a:sym typeface="Calibri"/>
              </a:rPr>
              <a:t>Now say it in your own words.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1 · EXIT TICKET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Before You Go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548640" y="201168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822960" y="2258568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822960" y="2258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600200" y="201168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type of information I should protect online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48640" y="329184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822960" y="3538728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600200" y="329184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reason screenshots matter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fmla="val 10435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822960" y="4818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1600200" y="4572000"/>
            <a:ext cx="9784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One safe action if something harmful is shared is…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CB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9CB8"/>
                </a:solidFill>
                <a:latin typeface="Calibri"/>
                <a:ea typeface="Calibri"/>
                <a:cs typeface="Calibri"/>
                <a:sym typeface="Calibri"/>
              </a:rPr>
              <a:t>LESSON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Cyberbullying, Peer Pressure &amp; Safe Upstander Responses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34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1097280" y="434340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respond safely when online group behavior becomes harmful, pressuring, or unsafe?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2 · OPENING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Why Is It Harder to Stop Online?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548640" y="1828800"/>
            <a:ext cx="11064240" cy="1463040"/>
          </a:xfrm>
          <a:prstGeom prst="roundRect">
            <a:avLst>
              <a:gd fmla="val 75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500"/>
              <a:buFont typeface="Cambria"/>
              <a:buNone/>
            </a:pPr>
            <a:r>
              <a:rPr b="0" i="1" lang="en-US" sz="25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“Why can online group behavior feel harder to stop than face-to-face behavior?”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548640" y="3657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822960" y="3657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It spreads fast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172200" y="3657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6446520" y="3657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More people pile 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548640" y="4800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822960" y="4800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Screenshots make it permanent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6172200" y="4800600"/>
            <a:ext cx="5349240" cy="96012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6446520" y="48006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Harder to walk away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2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The Upstander Escalation Ladder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fmla="val 12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1691640" y="17830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Don’t add to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303520" y="178308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No likes, comments, or forwards.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48640" y="2862072"/>
            <a:ext cx="11064240" cy="914400"/>
          </a:xfrm>
          <a:prstGeom prst="roundRect">
            <a:avLst>
              <a:gd fmla="val 12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868680" y="3044952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868680" y="30449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691640" y="2862072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Name 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303520" y="2862072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“This isn’t okay — I’m out.”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48640" y="3941064"/>
            <a:ext cx="11064240" cy="914400"/>
          </a:xfrm>
          <a:prstGeom prst="roundRect">
            <a:avLst>
              <a:gd fmla="val 12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868680" y="4123944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868680" y="41239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691640" y="3941064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Support the target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5303520" y="3941064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private, kind message so they’re not alone.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48640" y="5020056"/>
            <a:ext cx="11064240" cy="914400"/>
          </a:xfrm>
          <a:prstGeom prst="roundRect">
            <a:avLst>
              <a:gd fmla="val 12000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868680" y="5202936"/>
            <a:ext cx="548640" cy="548640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868680" y="52029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1691640" y="5020056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Report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5303520" y="5020056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Tell a trusted adult / use the reporting pathway.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You don’t have to do all four — even step 1 helps. Never fix a harmful situation alone.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2 · DISCUSSION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What Makes It Worse? What Helps?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fmla="val 7500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 group chat makes jokes about a student. Someone shares a private screenshot. Others add comments. One student feels uncomfortable but fears being excluded if they speak up.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48640" y="3383280"/>
            <a:ext cx="5394960" cy="2468880"/>
          </a:xfrm>
          <a:prstGeom prst="roundRect">
            <a:avLst>
              <a:gd fmla="val 4444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822960" y="35661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Makes it WORSE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822960" y="406908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Adding jokes · forwarding the screenshot · screenshotting more · daring others to join.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6217920" y="3383280"/>
            <a:ext cx="5394960" cy="2468880"/>
          </a:xfrm>
          <a:prstGeom prst="roundRect">
            <a:avLst>
              <a:gd fmla="val 4444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6492240" y="35661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HELPS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492240" y="406908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Refusing to join · “do not forward this” · privately supporting the target · reporting.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2 · PRACTICE + SAFETY · 20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Safe Words + When to Tell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fmla="val 2667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Pick the strongest response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868680" y="246888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1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“I’m not joining in.”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1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“Do not forward this.”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1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“This is hurting someone.”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1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“I’m reporting this to a trusted adult.”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Char char="•"/>
            </a:pPr>
            <a:r>
              <a:rPr b="0" i="1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“Let’s stop before this gets worse.”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fmla="val 2667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Safety note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6583680" y="246888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If pressure involves private messages, images, threats, or discomfort: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Do not send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Do not forward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Do not keep it secret.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• Tell a trusted adult immediately.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9CB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49CB8"/>
                </a:solidFill>
                <a:latin typeface="Calibri"/>
                <a:ea typeface="Calibri"/>
                <a:cs typeface="Calibri"/>
                <a:sym typeface="Calibri"/>
              </a:rPr>
              <a:t>LESSON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Copyright, Misinformation &amp; Responsible Sharing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822960" y="4206240"/>
            <a:ext cx="10515600" cy="1371600"/>
          </a:xfrm>
          <a:prstGeom prst="roundRect">
            <a:avLst>
              <a:gd fmla="val 6667" name="adj"/>
            </a:avLst>
          </a:prstGeom>
          <a:solidFill>
            <a:srgbClr val="34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1097280" y="4343400"/>
            <a:ext cx="9966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Essential Question</a:t>
            </a:r>
            <a:br>
              <a:rPr b="1" i="0" lang="en-US" sz="13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can I decide whether digital content is accurate, appropriate, and mine to share?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3 · OPENING · 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Is Everything Online Free to Use?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fmla="val 7059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700"/>
              <a:buFont typeface="Cambria"/>
              <a:buNone/>
            </a:pPr>
            <a:r>
              <a:rPr b="0" i="1" lang="en-US" sz="27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“If something is online, does that mean anyone can copy it and use it?”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Vote:  YES   ·   NO   ·   IT DEPENDS   — then defend your vote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“It depends” is usually right — today we learn how to decide.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3 · MINI-LESSON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Three Questions Before You Share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548640" y="1874520"/>
            <a:ext cx="11064240" cy="1143000"/>
          </a:xfrm>
          <a:prstGeom prst="roundRect">
            <a:avLst>
              <a:gd fmla="val 96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868680" y="2167128"/>
            <a:ext cx="566928" cy="566928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868680" y="2167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1691640" y="1874520"/>
            <a:ext cx="3931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Is it MINE to share?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5760720" y="1874520"/>
            <a:ext cx="5669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Do I own it, have permission, or a proper citation?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548640" y="3246120"/>
            <a:ext cx="11064240" cy="1143000"/>
          </a:xfrm>
          <a:prstGeom prst="roundRect">
            <a:avLst>
              <a:gd fmla="val 96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868680" y="3538728"/>
            <a:ext cx="566928" cy="566928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868680" y="35387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1691640" y="3246120"/>
            <a:ext cx="3931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Is it ACCURATE?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5760720" y="3246120"/>
            <a:ext cx="5669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Can I verify it with a credible source?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548640" y="4617720"/>
            <a:ext cx="11064240" cy="1143000"/>
          </a:xfrm>
          <a:prstGeom prst="roundRect">
            <a:avLst>
              <a:gd fmla="val 96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868680" y="4910328"/>
            <a:ext cx="566928" cy="566928"/>
          </a:xfrm>
          <a:prstGeom prst="ellipse">
            <a:avLst/>
          </a:prstGeom>
          <a:solidFill>
            <a:srgbClr val="6D4B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868680" y="49103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691640" y="4617720"/>
            <a:ext cx="3931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Could it HARM someone?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5760720" y="4617720"/>
            <a:ext cx="5669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Does it expose private info or spread something false?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Apply to: images · text · music · videos · screenshots · links · messages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ACTIVITY · 15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Copyright Sort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48640" y="1874520"/>
            <a:ext cx="3429000" cy="914400"/>
          </a:xfrm>
          <a:prstGeom prst="roundRect">
            <a:avLst>
              <a:gd fmla="val 12000" name="adj"/>
            </a:avLst>
          </a:prstGeom>
          <a:solidFill>
            <a:srgbClr val="E4F0E8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731520" y="1874520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E7D6F"/>
                </a:solidFill>
                <a:latin typeface="Cambria"/>
                <a:ea typeface="Cambria"/>
                <a:cs typeface="Cambria"/>
                <a:sym typeface="Cambria"/>
              </a:rPr>
              <a:t>ALLOWED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4251960" y="1874520"/>
            <a:ext cx="3429000" cy="914400"/>
          </a:xfrm>
          <a:prstGeom prst="roundRect">
            <a:avLst>
              <a:gd fmla="val 12000" name="adj"/>
            </a:avLst>
          </a:prstGeom>
          <a:solidFill>
            <a:srgbClr val="F4F0E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434840" y="1874520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B7791F"/>
                </a:solidFill>
                <a:latin typeface="Cambria"/>
                <a:ea typeface="Cambria"/>
                <a:cs typeface="Cambria"/>
                <a:sym typeface="Cambria"/>
              </a:rPr>
              <a:t>ASK / CITE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7955280" y="1874520"/>
            <a:ext cx="3429000" cy="914400"/>
          </a:xfrm>
          <a:prstGeom prst="roundRect">
            <a:avLst>
              <a:gd fmla="val 12000" name="adj"/>
            </a:avLst>
          </a:prstGeom>
          <a:solidFill>
            <a:srgbClr val="F7E4DF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8138160" y="1874520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39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B0392B"/>
                </a:solidFill>
                <a:latin typeface="Cambria"/>
                <a:ea typeface="Cambria"/>
                <a:cs typeface="Cambria"/>
                <a:sym typeface="Cambria"/>
              </a:rPr>
              <a:t>DO NOT SHARE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548640" y="3063240"/>
            <a:ext cx="53492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822960" y="306324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Original drawing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6172200" y="3063240"/>
            <a:ext cx="53492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6446520" y="306324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Website image, no credit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548640" y="4023360"/>
            <a:ext cx="53492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822960" y="40233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Song without permission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6172200" y="4023360"/>
            <a:ext cx="53492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6446520" y="40233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Properly cited image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548640" y="4983480"/>
            <a:ext cx="53492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822960" y="49834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Private-message screenshot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6172200" y="4983480"/>
            <a:ext cx="534924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2D8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6446520" y="49834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Copied paragraph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Sort each card. Explain your reasoning and compare with classmates.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LESSON 3 · MISINFORMATION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Cancellation Rumor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22960" y="2057400"/>
            <a:ext cx="10515600" cy="1280160"/>
          </a:xfrm>
          <a:prstGeom prst="roundRect">
            <a:avLst>
              <a:gd fmla="val 7143" name="adj"/>
            </a:avLst>
          </a:prstGeom>
          <a:solidFill>
            <a:srgbClr val="34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1188720" y="2148840"/>
            <a:ext cx="9784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E0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DDD6E0"/>
                </a:solidFill>
                <a:latin typeface="Calibri"/>
                <a:ea typeface="Calibri"/>
                <a:cs typeface="Calibri"/>
                <a:sym typeface="Calibri"/>
              </a:rPr>
              <a:t>A post claims a school activity is canceled. It has no source, but students are already sharing it.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822960" y="3611880"/>
            <a:ext cx="10515600" cy="2194560"/>
          </a:xfrm>
          <a:prstGeom prst="roundRect">
            <a:avLst>
              <a:gd fmla="val 4167" name="adj"/>
            </a:avLst>
          </a:prstGeom>
          <a:solidFill>
            <a:srgbClr val="E4F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1188720" y="3794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6F"/>
                </a:solidFill>
                <a:latin typeface="Calibri"/>
                <a:ea typeface="Calibri"/>
                <a:cs typeface="Calibri"/>
                <a:sym typeface="Calibri"/>
              </a:rPr>
              <a:t>MODEL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1188720" y="4160520"/>
            <a:ext cx="9784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2400"/>
              <a:buFont typeface="Cambria"/>
              <a:buNone/>
            </a:pPr>
            <a:r>
              <a:rPr b="1" i="1" lang="en-US" sz="2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“I’m not going to share this until I know it’s accurate. I’ll check an official school source or ask a trusted adult.”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LESSON 3 · BUILD &amp; REFLECT · 10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04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0304F"/>
                </a:solidFill>
                <a:latin typeface="Cambria"/>
                <a:ea typeface="Cambria"/>
                <a:cs typeface="Cambria"/>
                <a:sym typeface="Cambria"/>
              </a:rPr>
              <a:t>Your Responsible Sharing Checklist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548640" y="1783080"/>
            <a:ext cx="11064240" cy="2468880"/>
          </a:xfrm>
          <a:prstGeom prst="roundRect">
            <a:avLst>
              <a:gd fmla="val 4444" name="adj"/>
            </a:avLst>
          </a:prstGeom>
          <a:solidFill>
            <a:srgbClr val="EEF1F6"/>
          </a:solidFill>
          <a:ln>
            <a:noFill/>
          </a:ln>
          <a:effectLst>
            <a:outerShdw blurRad="76200" rotWithShape="0" algn="bl" dir="5400000" dist="25400">
              <a:srgbClr val="BBBBBB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914400" y="1965960"/>
            <a:ext cx="10332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1. Is it mine to share, or do I need permission/credit?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2. Can I verify it with an official or credible source?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3. Could it expose private info or hurt someone?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4. If I’m unsure — pause and ask a trusted adult.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22B33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222B33"/>
                </a:solidFill>
                <a:latin typeface="Calibri"/>
                <a:ea typeface="Calibri"/>
                <a:cs typeface="Calibri"/>
                <a:sym typeface="Calibri"/>
              </a:rPr>
              <a:t>5. If it looks deceptive or unsafe, report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4B7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D4B73"/>
                </a:solidFill>
                <a:latin typeface="Calibri"/>
                <a:ea typeface="Calibri"/>
                <a:cs typeface="Calibri"/>
                <a:sym typeface="Calibri"/>
              </a:rPr>
              <a:t>Exit ticket:  respect copyright · verify information · why not to repost questionable posts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04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Own It · Stop It · Tell Someone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822960" y="3291840"/>
            <a:ext cx="10515600" cy="2011680"/>
          </a:xfrm>
          <a:prstGeom prst="roundRect">
            <a:avLst>
              <a:gd fmla="val 4545" name="adj"/>
            </a:avLst>
          </a:prstGeom>
          <a:solidFill>
            <a:srgbClr val="344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1188720" y="3474720"/>
            <a:ext cx="9784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you share: Is it mine? Is it accurate? Could it harm?</a:t>
            </a:r>
            <a:b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DDD6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DD6E0"/>
                </a:solidFill>
                <a:latin typeface="Calibri"/>
                <a:ea typeface="Calibri"/>
                <a:cs typeface="Calibri"/>
                <a:sym typeface="Calibri"/>
              </a:rPr>
              <a:t>My trusted adults / school reporting pathway:  ______________________________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CyberSWAT · Grade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2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2B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