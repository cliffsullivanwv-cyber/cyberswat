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B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3–12 · DIGITAL CITIZENSHIP &amp; ONLINE SAFETY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1097280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C98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640080" y="320040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Being Safe &amp; Kind Online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40080" y="4160520"/>
            <a:ext cx="9875520" cy="18288"/>
          </a:xfrm>
          <a:prstGeom prst="rect">
            <a:avLst/>
          </a:prstGeom>
          <a:solidFill>
            <a:srgbClr val="3A4A6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443484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8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3rd grade students use technology safely, kindly, and responsibly?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6263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93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CyberSWAT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7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UNIT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02920" cy="502920"/>
          </a:xfrm>
          <a:prstGeom prst="ellipse">
            <a:avLst/>
          </a:prstGeom>
          <a:solidFill>
            <a:srgbClr val="276B5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673352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Private, What's Not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371600" y="207568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· 30–35 min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788920"/>
            <a:ext cx="502920" cy="502920"/>
          </a:xfrm>
          <a:prstGeom prst="ellipse">
            <a:avLst/>
          </a:prstGeom>
          <a:solidFill>
            <a:srgbClr val="276B5D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88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2724912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Kind Online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371600" y="312724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· 30–35 min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840480"/>
            <a:ext cx="502920" cy="502920"/>
          </a:xfrm>
          <a:prstGeom prst="ellipse">
            <a:avLst/>
          </a:prstGeom>
          <a:solidFill>
            <a:srgbClr val="276B5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3776472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Screens, Games &amp; Asking First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371600" y="417880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· 30–35 min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892040"/>
            <a:ext cx="502920" cy="502920"/>
          </a:xfrm>
          <a:prstGeom prst="ellipse">
            <a:avLst/>
          </a:prstGeom>
          <a:solidFill>
            <a:srgbClr val="276B5D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892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4828032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Tabletop Exercises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371600" y="523036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scenario-based discussions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CyberSWAT · Grade 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7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FRAMEWORKS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Strategies Students Will Practice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73836" y="2651760"/>
            <a:ext cx="3200400" cy="1737360"/>
          </a:xfrm>
          <a:prstGeom prst="roundRect">
            <a:avLst>
              <a:gd name="adj" fmla="val 5263"/>
            </a:avLst>
          </a:prstGeom>
          <a:solidFill>
            <a:srgbClr val="F3E2C2"/>
          </a:solidFill>
          <a:ln/>
        </p:spPr>
      </p:sp>
      <p:sp>
        <p:nvSpPr>
          <p:cNvPr id="5" name="Text 3"/>
          <p:cNvSpPr/>
          <p:nvPr/>
        </p:nvSpPr>
        <p:spPr>
          <a:xfrm>
            <a:off x="1202436" y="2651760"/>
            <a:ext cx="2743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A5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First, Click Second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494276" y="2651760"/>
            <a:ext cx="3200400" cy="1737360"/>
          </a:xfrm>
          <a:prstGeom prst="roundRect">
            <a:avLst>
              <a:gd name="adj" fmla="val 5263"/>
            </a:avLst>
          </a:prstGeom>
          <a:solidFill>
            <a:srgbClr val="F3E2C2"/>
          </a:solidFill>
          <a:ln/>
        </p:spPr>
      </p:sp>
      <p:sp>
        <p:nvSpPr>
          <p:cNvPr id="7" name="Text 5"/>
          <p:cNvSpPr/>
          <p:nvPr/>
        </p:nvSpPr>
        <p:spPr>
          <a:xfrm>
            <a:off x="4722876" y="2651760"/>
            <a:ext cx="2743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A5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Kind Words Only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014716" y="2651760"/>
            <a:ext cx="3200400" cy="1737360"/>
          </a:xfrm>
          <a:prstGeom prst="roundRect">
            <a:avLst>
              <a:gd name="adj" fmla="val 5263"/>
            </a:avLst>
          </a:prstGeom>
          <a:solidFill>
            <a:srgbClr val="F3E2C2"/>
          </a:solidFill>
          <a:ln/>
        </p:spPr>
      </p:sp>
      <p:sp>
        <p:nvSpPr>
          <p:cNvPr id="9" name="Text 7"/>
          <p:cNvSpPr/>
          <p:nvPr/>
        </p:nvSpPr>
        <p:spPr>
          <a:xfrm>
            <a:off x="8243316" y="2651760"/>
            <a:ext cx="2743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A5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Tell a Trusted Adult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CyberSWAT · Grade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7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· 30–35 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Private, What's Not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DD5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 </a:t>
            </a:r>
            <a:pPr indent="0" marL="0">
              <a:buNone/>
            </a:pPr>
            <a:r>
              <a:rPr lang="en-US" sz="1400" dirty="0">
                <a:solidFill>
                  <a:srgbClr val="1B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will be able to identify private information (full name, address, school, password) and explain why it should not be shared online.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788920"/>
            <a:ext cx="347472" cy="347472"/>
          </a:xfrm>
          <a:prstGeom prst="ellipse">
            <a:avLst/>
          </a:prstGeom>
          <a:solidFill>
            <a:srgbClr val="1B2B4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7889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269748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the words "private" and "public." Private means just for you and people you trust. Public means anyone could see it.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840480"/>
            <a:ext cx="347472" cy="347472"/>
          </a:xfrm>
          <a:prstGeom prst="ellipse">
            <a:avLst/>
          </a:prstGeom>
          <a:solidFill>
            <a:srgbClr val="1B2B4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8404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34440" y="374904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up the sorting cards one at a time (name, favorite color, home address, school name, favorite animal, phone number, birthday, password). As a class, sort each into "Private" or "OK to Share."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892040"/>
            <a:ext cx="347472" cy="347472"/>
          </a:xfrm>
          <a:prstGeom prst="ellipse">
            <a:avLst/>
          </a:prstGeom>
          <a:solidFill>
            <a:srgbClr val="1B2B4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892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480060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Explain: online, we should never share private information like our address, phone number, password, or full name with people we don't know in real life.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CyberSWAT · Grade 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B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· MODEL RESPONSE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2E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10332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That's private. I'm not sharing that, and I'm telling my teacher.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5029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saying this out loud until it becomes automatic.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CyberSWAT · Grade 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7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 · 30–35 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Being Kind Online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DD5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 </a:t>
            </a:r>
            <a:pPr indent="0" marL="0">
              <a:buNone/>
            </a:pPr>
            <a:r>
              <a:rPr lang="en-US" sz="1400" dirty="0">
                <a:solidFill>
                  <a:srgbClr val="1B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will be able to describe what a kind online message looks like and explain what to do if they see an unkind one.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788920"/>
            <a:ext cx="347472" cy="347472"/>
          </a:xfrm>
          <a:prstGeom prst="ellipse">
            <a:avLst/>
          </a:prstGeom>
          <a:solidFill>
            <a:srgbClr val="1B2B4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7889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269748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two sample messages aloud. Ask students to give a thumbs up (kind) or thumbs down (unkind) for each.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840480"/>
            <a:ext cx="347472" cy="347472"/>
          </a:xfrm>
          <a:prstGeom prst="ellipse">
            <a:avLst/>
          </a:prstGeom>
          <a:solidFill>
            <a:srgbClr val="1B2B4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8404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34440" y="374904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Discuss: words typed on a screen can hurt just as much as words said out loud, even if we can't see the other person's face.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892040"/>
            <a:ext cx="347472" cy="347472"/>
          </a:xfrm>
          <a:prstGeom prst="ellipse">
            <a:avLst/>
          </a:prstGeom>
          <a:solidFill>
            <a:srgbClr val="1B2B4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892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480060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class anchor chart titled "Kind Words Online" — words and phrases that make others feel good.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CyberSWAT · Grade 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B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 · MODEL RESPONSE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2E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10332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don't send unkind messages, and I tell an adult if I see one.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5029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saying this out loud until it becomes automatic.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CyberSWAT · Grade 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7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 · 30–35 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Screens, Games &amp; Asking First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DD5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 </a:t>
            </a:r>
            <a:pPr indent="0" marL="0">
              <a:buNone/>
            </a:pPr>
            <a:r>
              <a:rPr lang="en-US" sz="1400" dirty="0">
                <a:solidFill>
                  <a:srgbClr val="1B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will be able to explain why they should ask a grown-up before downloading, clicking, or buying anything online.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788920"/>
            <a:ext cx="347472" cy="347472"/>
          </a:xfrm>
          <a:prstGeom prst="ellipse">
            <a:avLst/>
          </a:prstGeom>
          <a:solidFill>
            <a:srgbClr val="1B2B4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7889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269748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device mock-up. Point out a pop-up that says "Download now!" and a button that says "Buy coins."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840480"/>
            <a:ext cx="347472" cy="347472"/>
          </a:xfrm>
          <a:prstGeom prst="ellipse">
            <a:avLst/>
          </a:prstGeom>
          <a:solidFill>
            <a:srgbClr val="1B2B4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8404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34440" y="374904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that pop-ups, ads, and buttons inside games are sometimes tricks to get us to download something unsafe or spend real money.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892040"/>
            <a:ext cx="347472" cy="347472"/>
          </a:xfrm>
          <a:prstGeom prst="ellipse">
            <a:avLst/>
          </a:prstGeom>
          <a:solidFill>
            <a:srgbClr val="1B2B4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892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480060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the model response: "I'll ask a grown-up before I download or click on that."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CyberSWAT · Grade 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B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 · MODEL RESPONSE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2E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10332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I'll ask a grown-up before I download or click on that.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5029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saying this out loud until it becomes automatic.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CyberSWAT · Grade 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7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3E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Tabletop Exercises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4290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each scenario aloud, then work through the discussion questions as a class, in small groups, or as a quick-write.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CyberSWAT · Grade 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TABLETOP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B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New Game Pop-Up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3E2C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5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B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is playing a game on the class tablet. A pop-up message appears that says, "You Won! Click here to claim your prize!" The student is not sure what to do.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108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QUESTIONS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3584448"/>
            <a:ext cx="128016" cy="128016"/>
          </a:xfrm>
          <a:prstGeom prst="ellipse">
            <a:avLst/>
          </a:prstGeom>
          <a:solidFill>
            <a:srgbClr val="276B5D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447288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happen if the student clicks the pop-up?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270248"/>
            <a:ext cx="128016" cy="128016"/>
          </a:xfrm>
          <a:prstGeom prst="ellipse">
            <a:avLst/>
          </a:prstGeom>
          <a:solidFill>
            <a:srgbClr val="276B5D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133088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the student do instead?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94360" y="4956048"/>
            <a:ext cx="128016" cy="128016"/>
          </a:xfrm>
          <a:prstGeom prst="ellipse">
            <a:avLst/>
          </a:prstGeom>
          <a:solidFill>
            <a:srgbClr val="276B5D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818888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a trusted adult the student could tell?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CyberSWAT · Grade 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TABLETOP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B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Unkind Message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3E2C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5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B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receives a message from a classmate that says something mean about how they look. The student feels sad and does not know what to do next.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108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QUESTIONS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3584448"/>
            <a:ext cx="128016" cy="128016"/>
          </a:xfrm>
          <a:prstGeom prst="ellipse">
            <a:avLst/>
          </a:prstGeom>
          <a:solidFill>
            <a:srgbClr val="276B5D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447288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think the student feels?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270248"/>
            <a:ext cx="128016" cy="128016"/>
          </a:xfrm>
          <a:prstGeom prst="ellipse">
            <a:avLst/>
          </a:prstGeom>
          <a:solidFill>
            <a:srgbClr val="276B5D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133088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the student send an unkind message back? Why or why not?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94360" y="4956048"/>
            <a:ext cx="128016" cy="128016"/>
          </a:xfrm>
          <a:prstGeom prst="ellipse">
            <a:avLst/>
          </a:prstGeom>
          <a:solidFill>
            <a:srgbClr val="276B5D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818888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first thing the student should do?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CyberSWAT · Grade 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TABLETOP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B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Whose Password Is It?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3E2C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5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B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student's friend asks to borrow their tablet password so they can play a game together at recess. The student is not sure if that is okay.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108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QUESTIONS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3584448"/>
            <a:ext cx="128016" cy="128016"/>
          </a:xfrm>
          <a:prstGeom prst="ellipse">
            <a:avLst/>
          </a:prstGeom>
          <a:solidFill>
            <a:srgbClr val="276B5D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447288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safe to share a password, even with a friend?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270248"/>
            <a:ext cx="128016" cy="128016"/>
          </a:xfrm>
          <a:prstGeom prst="ellipse">
            <a:avLst/>
          </a:prstGeom>
          <a:solidFill>
            <a:srgbClr val="276B5D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133088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go wrong if someone else has your password?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94360" y="4956048"/>
            <a:ext cx="128016" cy="128016"/>
          </a:xfrm>
          <a:prstGeom prst="ellipse">
            <a:avLst/>
          </a:prstGeom>
          <a:solidFill>
            <a:srgbClr val="276B5D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818888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the student say instead?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CyberSWAT · Grade 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TABLETOP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B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Ask-First Roleplay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3E2C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5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B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finds a fun new app on the family tablet and wants to download it right away, without asking first.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108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QUESTIONS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3584448"/>
            <a:ext cx="128016" cy="128016"/>
          </a:xfrm>
          <a:prstGeom prst="ellipse">
            <a:avLst/>
          </a:prstGeom>
          <a:solidFill>
            <a:srgbClr val="276B5D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447288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it important to ask a grown-up before downloading something new?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270248"/>
            <a:ext cx="128016" cy="128016"/>
          </a:xfrm>
          <a:prstGeom prst="ellipse">
            <a:avLst/>
          </a:prstGeom>
          <a:solidFill>
            <a:srgbClr val="276B5D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133088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happen if the student downloads it without asking?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94360" y="4956048"/>
            <a:ext cx="128016" cy="128016"/>
          </a:xfrm>
          <a:prstGeom prst="ellipse">
            <a:avLst/>
          </a:prstGeom>
          <a:solidFill>
            <a:srgbClr val="276B5D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818888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kind, calm way to ask permission?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CyberSWAT · Grade 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B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4688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CyberSWAT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31089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· Being Safe &amp; Kind Online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3840480"/>
            <a:ext cx="5486400" cy="18288"/>
          </a:xfrm>
          <a:prstGeom prst="rect">
            <a:avLst/>
          </a:prstGeom>
          <a:solidFill>
            <a:srgbClr val="3A4A6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406908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EB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Fictional scenarios only. Keeps students' real experiences private. Report concerns to a trusted adult.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2026-08-20T12:03:23Z</dcterms:created>
  <dcterms:modified xsi:type="dcterms:W3CDTF">2026-08-20T12:03:23Z</dcterms:modified>
</cp:coreProperties>
</file>