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Welcome students. This unit is about making smart, safe choices online. Aligned to WV SB 466.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Set norms: examples stay fictional, no real names. Post your school reporting pathway on the board.</a:t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Chart student ideas. Keep it age-appropriate and fictional.</a:t>
            </a:r>
            <a:endParaRPr/>
          </a:p>
        </p:txBody>
      </p:sp>
      <p:sp>
        <p:nvSpPr>
          <p:cNvPr id="36" name="Google Shape;3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 the thinking aloud, not just the answer. Ask: which footprint can I take back?</a:t>
            </a:r>
            <a:endParaRPr/>
          </a:p>
        </p:txBody>
      </p:sp>
      <p:sp>
        <p:nvSpPr>
          <p:cNvPr id="49" name="Google Shape;4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Groups of 3–4. Circulate and prompt: what could go wrong if this got out? Combined details identify a student.</a:t>
            </a:r>
            <a:endParaRPr/>
          </a:p>
        </p:txBody>
      </p:sp>
      <p:sp>
        <p:nvSpPr>
          <p:cNvPr id="66" name="Google Shape;6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Discuss as a class or in groups using the Tabletop 1 response sheet.</a:t>
            </a:r>
            <a:endParaRPr/>
          </a:p>
        </p:txBody>
      </p:sp>
      <p:sp>
        <p:nvSpPr>
          <p:cNvPr id="86" name="Google Shape;8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Teacher models first, calmly. Students rehearse with a partner.</a:t>
            </a:r>
            <a:endParaRPr/>
          </a:p>
        </p:txBody>
      </p:sp>
      <p:sp>
        <p:nvSpPr>
          <p:cNvPr id="113" name="Google Shape;11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Collect exit tickets as evidence of completion.</a:t>
            </a:r>
            <a:endParaRPr/>
          </a:p>
        </p:txBody>
      </p:sp>
      <p:sp>
        <p:nvSpPr>
          <p:cNvPr id="125" name="Google Shape;12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Post the Stop-Save-Tell poster. Keep the sensitive note brief and factual.</a:t>
            </a:r>
            <a:endParaRPr/>
          </a:p>
        </p:txBody>
      </p:sp>
      <p:sp>
        <p:nvSpPr>
          <p:cNvPr id="146" name="Google Shape;14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Chart responses; steer toward these four.</a:t>
            </a:r>
            <a:endParaRPr/>
          </a:p>
        </p:txBody>
      </p:sp>
      <p:sp>
        <p:nvSpPr>
          <p:cNvPr id="157" name="Google Shape;15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Apply the three questions aloud to each content type.</a:t>
            </a:r>
            <a:endParaRPr/>
          </a:p>
        </p:txBody>
      </p:sp>
      <p:sp>
        <p:nvSpPr>
          <p:cNvPr id="176" name="Google Shape;17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Groups use the Bystander/Upstander sheet. Two groups share strongest move; class ranks.</a:t>
            </a:r>
            <a:endParaRPr/>
          </a:p>
        </p:txBody>
      </p:sp>
      <p:sp>
        <p:nvSpPr>
          <p:cNvPr id="201" name="Google Shape;20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sort: Allowed / Not allowed / Ask permission or cite. Then the brief age-appropriate safety note.</a:t>
            </a:r>
            <a:endParaRPr/>
          </a:p>
        </p:txBody>
      </p:sp>
      <p:sp>
        <p:nvSpPr>
          <p:cNvPr id="228" name="Google Shape;22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Build the STOP-THINK-VERIFY anchor chart with students. No clicking unknown links.</a:t>
            </a:r>
            <a:endParaRPr/>
          </a:p>
        </p:txBody>
      </p:sp>
      <p:sp>
        <p:nvSpPr>
          <p:cNvPr id="264" name="Google Shape;26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Keep it general — how scams work, not who got scammed.</a:t>
            </a:r>
            <a:endParaRPr/>
          </a:p>
        </p:txBody>
      </p:sp>
      <p:sp>
        <p:nvSpPr>
          <p:cNvPr id="275" name="Google Shape;27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These are clues. Scams almost always leave them.</a:t>
            </a:r>
            <a:endParaRPr/>
          </a:p>
        </p:txBody>
      </p:sp>
      <p:sp>
        <p:nvSpPr>
          <p:cNvPr id="287" name="Google Shape;28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Build this together as an anchor chart.</a:t>
            </a:r>
            <a:endParaRPr/>
          </a:p>
        </p:txBody>
      </p:sp>
      <p:sp>
        <p:nvSpPr>
          <p:cNvPr id="312" name="Google Shape;31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Groups of 3–4, four cards each. Each group presents one; class evaluates.</a:t>
            </a:r>
            <a:endParaRPr/>
          </a:p>
        </p:txBody>
      </p:sp>
      <p:sp>
        <p:nvSpPr>
          <p:cNvPr id="336" name="Google Shape;33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Real, trusted systems never ask for your password this way.</a:t>
            </a:r>
            <a:endParaRPr/>
          </a:p>
        </p:txBody>
      </p:sp>
      <p:sp>
        <p:nvSpPr>
          <p:cNvPr id="358" name="Google Shape;358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Close by naming the exact reporting pathway for your school.</a:t>
            </a:r>
            <a:endParaRPr/>
          </a:p>
        </p:txBody>
      </p:sp>
      <p:sp>
        <p:nvSpPr>
          <p:cNvPr id="393" name="Google Shape;393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A5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7C9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9DB7C9"/>
                </a:solidFill>
                <a:latin typeface="Calibri"/>
                <a:ea typeface="Calibri"/>
                <a:cs typeface="Calibri"/>
                <a:sym typeface="Calibri"/>
              </a:rPr>
              <a:t>GRADE 6 · DIGITAL CITIZENSHIP &amp; ONLINE SAFETY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777240" y="237744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mbria"/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CyberSWAT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822960" y="384048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3EA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D8E3EA"/>
                </a:solidFill>
                <a:latin typeface="Calibri"/>
                <a:ea typeface="Calibri"/>
                <a:cs typeface="Calibri"/>
                <a:sym typeface="Calibri"/>
              </a:rPr>
              <a:t>Safe, Responsible, Legal &amp; Respectful Technology Use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Classroom Slides · Project these while you teach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A5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7C9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9DB7C9"/>
                </a:solidFill>
                <a:latin typeface="Calibri"/>
                <a:ea typeface="Calibri"/>
                <a:cs typeface="Calibri"/>
                <a:sym typeface="Calibri"/>
              </a:rPr>
              <a:t>LESSON 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822960" y="233172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My Digital Footprint &amp; Online Privacy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822960" y="4114800"/>
            <a:ext cx="10515600" cy="1371600"/>
          </a:xfrm>
          <a:prstGeom prst="roundRect">
            <a:avLst>
              <a:gd fmla="val 6667" name="adj"/>
            </a:avLst>
          </a:prstGeom>
          <a:solidFill>
            <a:srgbClr val="2A4A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1097280" y="4251960"/>
            <a:ext cx="9966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Essential Question</a:t>
            </a:r>
            <a:br>
              <a:rPr b="1" i="0" lang="en-US" sz="13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What am I leaving behind online, and how do I protect what matters?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E7D6F"/>
                </a:solidFill>
                <a:latin typeface="Calibri"/>
                <a:ea typeface="Calibri"/>
                <a:cs typeface="Calibri"/>
                <a:sym typeface="Calibri"/>
              </a:rPr>
              <a:t>LESSON 1 · WARM-UP · 5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F3A5F"/>
                </a:solidFill>
                <a:latin typeface="Cambria"/>
                <a:ea typeface="Cambria"/>
                <a:cs typeface="Cambria"/>
                <a:sym typeface="Cambria"/>
              </a:rPr>
              <a:t>Think · Pair · Share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548640" y="1828800"/>
            <a:ext cx="11064240" cy="2194560"/>
          </a:xfrm>
          <a:prstGeom prst="roundRect">
            <a:avLst>
              <a:gd fmla="val 5000" name="adj"/>
            </a:avLst>
          </a:prstGeom>
          <a:solidFill>
            <a:srgbClr val="E4F0E8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914400" y="2011680"/>
            <a:ext cx="103327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3000"/>
              <a:buFont typeface="Cambria"/>
              <a:buNone/>
            </a:pPr>
            <a:r>
              <a:rPr b="0" i="1" lang="en-US" sz="3000" u="none" cap="none" strike="noStrike">
                <a:solidFill>
                  <a:srgbClr val="1F3A5F"/>
                </a:solidFill>
                <a:latin typeface="Cambria"/>
                <a:ea typeface="Cambria"/>
                <a:cs typeface="Cambria"/>
                <a:sym typeface="Cambria"/>
              </a:rPr>
              <a:t>“What are some things people post online that might last longer than they expect?”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548640" y="448056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1. Think on your own (45 seconds)   2. Share with a partner   3. Share with the class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6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E7D6F"/>
                </a:solidFill>
                <a:latin typeface="Calibri"/>
                <a:ea typeface="Calibri"/>
                <a:cs typeface="Calibri"/>
                <a:sym typeface="Calibri"/>
              </a:rPr>
              <a:t>Anything online can be copied, saved, screenshotted, or forwarded.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E7D6F"/>
                </a:solidFill>
                <a:latin typeface="Calibri"/>
                <a:ea typeface="Calibri"/>
                <a:cs typeface="Calibri"/>
                <a:sym typeface="Calibri"/>
              </a:rPr>
              <a:t>LESSON 1 · MINI-LESSON · 8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F3A5F"/>
                </a:solidFill>
                <a:latin typeface="Cambria"/>
                <a:ea typeface="Cambria"/>
                <a:cs typeface="Cambria"/>
                <a:sym typeface="Cambria"/>
              </a:rPr>
              <a:t>What is a Digital Footprint?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548640" y="1783080"/>
            <a:ext cx="11064240" cy="1234440"/>
          </a:xfrm>
          <a:prstGeom prst="roundRect">
            <a:avLst>
              <a:gd fmla="val 8889" name="adj"/>
            </a:avLst>
          </a:prstGeom>
          <a:solidFill>
            <a:srgbClr val="EEF3F5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6"/>
          <p:cNvSpPr/>
          <p:nvPr/>
        </p:nvSpPr>
        <p:spPr>
          <a:xfrm>
            <a:off x="914400" y="1874520"/>
            <a:ext cx="103327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The trail of information you leave behind when you use technology — posts, comments, photos, usernames, searches, messages, and anything you share.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548640" y="3246120"/>
            <a:ext cx="5394960" cy="2651760"/>
          </a:xfrm>
          <a:prstGeom prst="roundRect">
            <a:avLst>
              <a:gd fmla="val 4138" name="adj"/>
            </a:avLst>
          </a:prstGeom>
          <a:solidFill>
            <a:srgbClr val="E4F0E8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6"/>
          <p:cNvSpPr/>
          <p:nvPr/>
        </p:nvSpPr>
        <p:spPr>
          <a:xfrm>
            <a:off x="822960" y="342900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2E7D6F"/>
                </a:solidFill>
                <a:latin typeface="Cambria"/>
                <a:ea typeface="Cambria"/>
                <a:cs typeface="Cambria"/>
                <a:sym typeface="Cambria"/>
              </a:rPr>
              <a:t>SAFE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822960" y="3931920"/>
            <a:ext cx="48463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Posting a science project after your teacher says it’s okay — no full name, no location, nothing private.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6217920" y="3246120"/>
            <a:ext cx="5394960" cy="2651760"/>
          </a:xfrm>
          <a:prstGeom prst="roundRect">
            <a:avLst>
              <a:gd fmla="val 4138" name="adj"/>
            </a:avLst>
          </a:prstGeom>
          <a:solidFill>
            <a:srgbClr val="F7E4DF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6492240" y="342900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392B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B0392B"/>
                </a:solidFill>
                <a:latin typeface="Cambria"/>
                <a:ea typeface="Cambria"/>
                <a:cs typeface="Cambria"/>
                <a:sym typeface="Cambria"/>
              </a:rPr>
              <a:t>RISKY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6492240" y="3931920"/>
            <a:ext cx="48463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Telling someone online your full name, school, home area, and sending a photo of your ID.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LESSON 1 · ACTIVITY · 15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F3A5F"/>
                </a:solidFill>
                <a:latin typeface="Cambria"/>
                <a:ea typeface="Cambria"/>
                <a:cs typeface="Cambria"/>
                <a:sym typeface="Cambria"/>
              </a:rPr>
              <a:t>“Share or Protect?”  —  in your groups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548640" y="1920240"/>
            <a:ext cx="3429000" cy="2743200"/>
          </a:xfrm>
          <a:prstGeom prst="roundRect">
            <a:avLst>
              <a:gd fmla="val 4000" name="adj"/>
            </a:avLst>
          </a:prstGeom>
          <a:solidFill>
            <a:srgbClr val="E4F0E8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7"/>
          <p:cNvSpPr/>
          <p:nvPr/>
        </p:nvSpPr>
        <p:spPr>
          <a:xfrm>
            <a:off x="731520" y="214884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6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2E7D6F"/>
                </a:solidFill>
                <a:latin typeface="Cambria"/>
                <a:ea typeface="Cambria"/>
                <a:cs typeface="Cambria"/>
                <a:sym typeface="Cambria"/>
              </a:rPr>
              <a:t>SAFE TO SHARE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731520" y="269748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with permission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4251960" y="1920240"/>
            <a:ext cx="3429000" cy="2743200"/>
          </a:xfrm>
          <a:prstGeom prst="roundRect">
            <a:avLst>
              <a:gd fmla="val 4000" name="adj"/>
            </a:avLst>
          </a:prstGeom>
          <a:solidFill>
            <a:srgbClr val="F5EEDD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/>
          <p:nvPr/>
        </p:nvSpPr>
        <p:spPr>
          <a:xfrm>
            <a:off x="4434840" y="214884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B7791F"/>
                </a:solidFill>
                <a:latin typeface="Cambria"/>
                <a:ea typeface="Cambria"/>
                <a:cs typeface="Cambria"/>
                <a:sym typeface="Cambria"/>
              </a:rPr>
              <a:t>THINK CAREFULLY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4434840" y="269748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before you share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7955280" y="1920240"/>
            <a:ext cx="3429000" cy="2743200"/>
          </a:xfrm>
          <a:prstGeom prst="roundRect">
            <a:avLst>
              <a:gd fmla="val 4000" name="adj"/>
            </a:avLst>
          </a:prstGeom>
          <a:solidFill>
            <a:srgbClr val="F7E4DF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7"/>
          <p:cNvSpPr/>
          <p:nvPr/>
        </p:nvSpPr>
        <p:spPr>
          <a:xfrm>
            <a:off x="8138160" y="214884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392B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B0392B"/>
                </a:solidFill>
                <a:latin typeface="Cambria"/>
                <a:ea typeface="Cambria"/>
                <a:cs typeface="Cambria"/>
                <a:sym typeface="Cambria"/>
              </a:rPr>
              <a:t>KEEP PRIVATE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8138160" y="269748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always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548640" y="493776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Sort every card into a column. Your group must agree — and explain why.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Cards: first name · full name + school · password · hobby · home address · school ID photo · live location · a class project (with permission)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E7D6F"/>
                </a:solidFill>
                <a:latin typeface="Calibri"/>
                <a:ea typeface="Calibri"/>
                <a:cs typeface="Calibri"/>
                <a:sym typeface="Calibri"/>
              </a:rPr>
              <a:t>LESSON 1 · GUIDED SCENARIO · 7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F3A5F"/>
                </a:solidFill>
                <a:latin typeface="Cambria"/>
                <a:ea typeface="Cambria"/>
                <a:cs typeface="Cambria"/>
                <a:sym typeface="Cambria"/>
              </a:rPr>
              <a:t>Scenario: The Unknown Gamer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8"/>
          <p:cNvSpPr/>
          <p:nvPr/>
        </p:nvSpPr>
        <p:spPr>
          <a:xfrm>
            <a:off x="548640" y="1783080"/>
            <a:ext cx="11064240" cy="1737360"/>
          </a:xfrm>
          <a:prstGeom prst="roundRect">
            <a:avLst>
              <a:gd fmla="val 6316" name="adj"/>
            </a:avLst>
          </a:prstGeom>
          <a:solidFill>
            <a:srgbClr val="EEF3F5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8"/>
          <p:cNvSpPr/>
          <p:nvPr/>
        </p:nvSpPr>
        <p:spPr>
          <a:xfrm>
            <a:off x="914400" y="1920240"/>
            <a:ext cx="10332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A sixth grader joins an online game chat. Another player asks what school they attend and says, “I’m near there too.” The player then asks for the student’s real name and a photo.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548640" y="3794760"/>
            <a:ext cx="5349240" cy="1051560"/>
          </a:xfrm>
          <a:prstGeom prst="roundRect">
            <a:avLst>
              <a:gd fmla="val 10435" name="adj"/>
            </a:avLst>
          </a:prstGeom>
          <a:solidFill>
            <a:srgbClr val="FFFFFF"/>
          </a:solidFill>
          <a:ln cap="flat" cmpd="sng" w="12700">
            <a:solidFill>
              <a:srgbClr val="D6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8"/>
          <p:cNvSpPr/>
          <p:nvPr/>
        </p:nvSpPr>
        <p:spPr>
          <a:xfrm>
            <a:off x="777240" y="4041648"/>
            <a:ext cx="548640" cy="548640"/>
          </a:xfrm>
          <a:prstGeom prst="ellipse">
            <a:avLst/>
          </a:prstGeom>
          <a:solidFill>
            <a:srgbClr val="2E7D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8"/>
          <p:cNvSpPr/>
          <p:nvPr/>
        </p:nvSpPr>
        <p:spPr>
          <a:xfrm>
            <a:off x="777240" y="404164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1508760" y="3794760"/>
            <a:ext cx="42062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What are the warning signs?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6172200" y="3794760"/>
            <a:ext cx="5349240" cy="1051560"/>
          </a:xfrm>
          <a:prstGeom prst="roundRect">
            <a:avLst>
              <a:gd fmla="val 10435" name="adj"/>
            </a:avLst>
          </a:prstGeom>
          <a:solidFill>
            <a:srgbClr val="FFFFFF"/>
          </a:solidFill>
          <a:ln cap="flat" cmpd="sng" w="12700">
            <a:solidFill>
              <a:srgbClr val="D6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8"/>
          <p:cNvSpPr/>
          <p:nvPr/>
        </p:nvSpPr>
        <p:spPr>
          <a:xfrm>
            <a:off x="6400800" y="4041648"/>
            <a:ext cx="548640" cy="548640"/>
          </a:xfrm>
          <a:prstGeom prst="ellipse">
            <a:avLst/>
          </a:prstGeom>
          <a:solidFill>
            <a:srgbClr val="2E7D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8"/>
          <p:cNvSpPr/>
          <p:nvPr/>
        </p:nvSpPr>
        <p:spPr>
          <a:xfrm>
            <a:off x="6400800" y="404164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7132320" y="3794760"/>
            <a:ext cx="42062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What should stay private?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548640" y="5029200"/>
            <a:ext cx="5349240" cy="1051560"/>
          </a:xfrm>
          <a:prstGeom prst="roundRect">
            <a:avLst>
              <a:gd fmla="val 10435" name="adj"/>
            </a:avLst>
          </a:prstGeom>
          <a:solidFill>
            <a:srgbClr val="FFFFFF"/>
          </a:solidFill>
          <a:ln cap="flat" cmpd="sng" w="12700">
            <a:solidFill>
              <a:srgbClr val="D6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8"/>
          <p:cNvSpPr/>
          <p:nvPr/>
        </p:nvSpPr>
        <p:spPr>
          <a:xfrm>
            <a:off x="777240" y="5276088"/>
            <a:ext cx="548640" cy="548640"/>
          </a:xfrm>
          <a:prstGeom prst="ellipse">
            <a:avLst/>
          </a:prstGeom>
          <a:solidFill>
            <a:srgbClr val="2E7D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8"/>
          <p:cNvSpPr/>
          <p:nvPr/>
        </p:nvSpPr>
        <p:spPr>
          <a:xfrm>
            <a:off x="777240" y="527608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1508760" y="5029200"/>
            <a:ext cx="42062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What should the student do next?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6172200" y="5029200"/>
            <a:ext cx="5349240" cy="1051560"/>
          </a:xfrm>
          <a:prstGeom prst="roundRect">
            <a:avLst>
              <a:gd fmla="val 10435" name="adj"/>
            </a:avLst>
          </a:prstGeom>
          <a:solidFill>
            <a:srgbClr val="FFFFFF"/>
          </a:solidFill>
          <a:ln cap="flat" cmpd="sng" w="12700">
            <a:solidFill>
              <a:srgbClr val="D6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8"/>
          <p:cNvSpPr/>
          <p:nvPr/>
        </p:nvSpPr>
        <p:spPr>
          <a:xfrm>
            <a:off x="6400800" y="5276088"/>
            <a:ext cx="548640" cy="548640"/>
          </a:xfrm>
          <a:prstGeom prst="ellipse">
            <a:avLst/>
          </a:prstGeom>
          <a:solidFill>
            <a:srgbClr val="2E7D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"/>
          <p:cNvSpPr/>
          <p:nvPr/>
        </p:nvSpPr>
        <p:spPr>
          <a:xfrm>
            <a:off x="6400800" y="527608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7132320" y="5029200"/>
            <a:ext cx="42062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Who could they tell?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A5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/>
          <p:cNvSpPr/>
          <p:nvPr/>
        </p:nvSpPr>
        <p:spPr>
          <a:xfrm>
            <a:off x="822960" y="14630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LESSON 1 · MODEL RESPONSE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822960" y="187452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FC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9DBFCF"/>
                </a:solidFill>
                <a:latin typeface="Calibri"/>
                <a:ea typeface="Calibri"/>
                <a:cs typeface="Calibri"/>
                <a:sym typeface="Calibri"/>
              </a:rPr>
              <a:t>Practice saying it — then say it in your own words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822960" y="2651760"/>
            <a:ext cx="10515600" cy="2194560"/>
          </a:xfrm>
          <a:prstGeom prst="roundRect">
            <a:avLst>
              <a:gd fmla="val 4167" name="adj"/>
            </a:avLst>
          </a:prstGeom>
          <a:solidFill>
            <a:srgbClr val="2A4A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"/>
          <p:cNvSpPr/>
          <p:nvPr/>
        </p:nvSpPr>
        <p:spPr>
          <a:xfrm>
            <a:off x="1280160" y="2743200"/>
            <a:ext cx="96012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1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“I don’t share personal information online. I’m leaving this chat and telling a trusted adult.”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DBFC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DBFCF"/>
                </a:solidFill>
                <a:latin typeface="Calibri"/>
                <a:ea typeface="Calibri"/>
                <a:cs typeface="Calibri"/>
                <a:sym typeface="Calibri"/>
              </a:rPr>
              <a:t>Calm. Clear. No drama. Then leave and tell.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E7D6F"/>
                </a:solidFill>
                <a:latin typeface="Calibri"/>
                <a:ea typeface="Calibri"/>
                <a:cs typeface="Calibri"/>
                <a:sym typeface="Calibri"/>
              </a:rPr>
              <a:t>LESSON 1 · EXIT TICKET · 5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F3A5F"/>
                </a:solidFill>
                <a:latin typeface="Cambria"/>
                <a:ea typeface="Cambria"/>
                <a:cs typeface="Cambria"/>
                <a:sym typeface="Cambria"/>
              </a:rPr>
              <a:t>Before You Go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0"/>
          <p:cNvSpPr/>
          <p:nvPr/>
        </p:nvSpPr>
        <p:spPr>
          <a:xfrm>
            <a:off x="548640" y="2011680"/>
            <a:ext cx="11064240" cy="1051560"/>
          </a:xfrm>
          <a:prstGeom prst="roundRect">
            <a:avLst>
              <a:gd fmla="val 10435" name="adj"/>
            </a:avLst>
          </a:prstGeom>
          <a:solidFill>
            <a:srgbClr val="EEF3F5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0"/>
          <p:cNvSpPr/>
          <p:nvPr/>
        </p:nvSpPr>
        <p:spPr>
          <a:xfrm>
            <a:off x="822960" y="2258568"/>
            <a:ext cx="548640" cy="548640"/>
          </a:xfrm>
          <a:prstGeom prst="ellipse">
            <a:avLst/>
          </a:prstGeom>
          <a:solidFill>
            <a:srgbClr val="2E7D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0"/>
          <p:cNvSpPr/>
          <p:nvPr/>
        </p:nvSpPr>
        <p:spPr>
          <a:xfrm>
            <a:off x="822960" y="225856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1600200" y="2011680"/>
            <a:ext cx="97840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One piece of personal information I should protect is…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548640" y="3291840"/>
            <a:ext cx="11064240" cy="1051560"/>
          </a:xfrm>
          <a:prstGeom prst="roundRect">
            <a:avLst>
              <a:gd fmla="val 10435" name="adj"/>
            </a:avLst>
          </a:prstGeom>
          <a:solidFill>
            <a:srgbClr val="EEF3F5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0"/>
          <p:cNvSpPr/>
          <p:nvPr/>
        </p:nvSpPr>
        <p:spPr>
          <a:xfrm>
            <a:off x="822960" y="3538728"/>
            <a:ext cx="548640" cy="548640"/>
          </a:xfrm>
          <a:prstGeom prst="ellipse">
            <a:avLst/>
          </a:prstGeom>
          <a:solidFill>
            <a:srgbClr val="2E7D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0"/>
          <p:cNvSpPr/>
          <p:nvPr/>
        </p:nvSpPr>
        <p:spPr>
          <a:xfrm>
            <a:off x="822960" y="353872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0"/>
          <p:cNvSpPr/>
          <p:nvPr/>
        </p:nvSpPr>
        <p:spPr>
          <a:xfrm>
            <a:off x="1600200" y="3291840"/>
            <a:ext cx="97840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One safe action if someone asks for private information is…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548640" y="4572000"/>
            <a:ext cx="11064240" cy="1051560"/>
          </a:xfrm>
          <a:prstGeom prst="roundRect">
            <a:avLst>
              <a:gd fmla="val 10435" name="adj"/>
            </a:avLst>
          </a:prstGeom>
          <a:solidFill>
            <a:srgbClr val="EEF3F5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0"/>
          <p:cNvSpPr/>
          <p:nvPr/>
        </p:nvSpPr>
        <p:spPr>
          <a:xfrm>
            <a:off x="822960" y="4818888"/>
            <a:ext cx="548640" cy="548640"/>
          </a:xfrm>
          <a:prstGeom prst="ellipse">
            <a:avLst/>
          </a:prstGeom>
          <a:solidFill>
            <a:srgbClr val="2E7D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"/>
          <p:cNvSpPr/>
          <p:nvPr/>
        </p:nvSpPr>
        <p:spPr>
          <a:xfrm>
            <a:off x="822960" y="481888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1600200" y="4572000"/>
            <a:ext cx="97840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One trusted adult I can talk to is…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0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A5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"/>
          <p:cNvSpPr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7C9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9DB7C9"/>
                </a:solidFill>
                <a:latin typeface="Calibri"/>
                <a:ea typeface="Calibri"/>
                <a:cs typeface="Calibri"/>
                <a:sym typeface="Calibri"/>
              </a:rPr>
              <a:t>LESSON 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822960" y="233172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Respectful, Safe &amp; Legal Online Communication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1"/>
          <p:cNvSpPr/>
          <p:nvPr/>
        </p:nvSpPr>
        <p:spPr>
          <a:xfrm>
            <a:off x="822960" y="4114800"/>
            <a:ext cx="10515600" cy="1371600"/>
          </a:xfrm>
          <a:prstGeom prst="roundRect">
            <a:avLst>
              <a:gd fmla="val 6667" name="adj"/>
            </a:avLst>
          </a:prstGeom>
          <a:solidFill>
            <a:srgbClr val="2A4A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1"/>
          <p:cNvSpPr/>
          <p:nvPr/>
        </p:nvSpPr>
        <p:spPr>
          <a:xfrm>
            <a:off x="1097280" y="4251960"/>
            <a:ext cx="9966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Essential Question</a:t>
            </a:r>
            <a:br>
              <a:rPr b="1" i="0" lang="en-US" sz="13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Before I post, send, or forward — is it safe, respectful, and legal?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1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E7D6F"/>
                </a:solidFill>
                <a:latin typeface="Calibri"/>
                <a:ea typeface="Calibri"/>
                <a:cs typeface="Calibri"/>
                <a:sym typeface="Calibri"/>
              </a:rPr>
              <a:t>LESSON 2 · OPENING · 5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2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F3A5F"/>
                </a:solidFill>
                <a:latin typeface="Cambria"/>
                <a:ea typeface="Cambria"/>
                <a:cs typeface="Cambria"/>
                <a:sym typeface="Cambria"/>
              </a:rPr>
              <a:t>Online vs. Face-to-Face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2"/>
          <p:cNvSpPr/>
          <p:nvPr/>
        </p:nvSpPr>
        <p:spPr>
          <a:xfrm>
            <a:off x="548640" y="1828800"/>
            <a:ext cx="11064240" cy="1463040"/>
          </a:xfrm>
          <a:prstGeom prst="roundRect">
            <a:avLst>
              <a:gd fmla="val 7500" name="adj"/>
            </a:avLst>
          </a:prstGeom>
          <a:solidFill>
            <a:srgbClr val="E4F0E8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2"/>
          <p:cNvSpPr/>
          <p:nvPr/>
        </p:nvSpPr>
        <p:spPr>
          <a:xfrm>
            <a:off x="914400" y="1920240"/>
            <a:ext cx="103327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2600"/>
              <a:buFont typeface="Cambria"/>
              <a:buNone/>
            </a:pPr>
            <a:r>
              <a:rPr b="0" i="1" lang="en-US" sz="2600" u="none" cap="none" strike="noStrike">
                <a:solidFill>
                  <a:srgbClr val="1F3A5F"/>
                </a:solidFill>
                <a:latin typeface="Cambria"/>
                <a:ea typeface="Cambria"/>
                <a:cs typeface="Cambria"/>
                <a:sym typeface="Cambria"/>
              </a:rPr>
              <a:t>“What makes online communication different from talking face-to-face?”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/>
          <p:nvPr/>
        </p:nvSpPr>
        <p:spPr>
          <a:xfrm>
            <a:off x="548640" y="3657600"/>
            <a:ext cx="5349240" cy="96012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D6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2"/>
          <p:cNvSpPr/>
          <p:nvPr/>
        </p:nvSpPr>
        <p:spPr>
          <a:xfrm>
            <a:off x="822960" y="3657600"/>
            <a:ext cx="4846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Messages can be screenshotted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2"/>
          <p:cNvSpPr/>
          <p:nvPr/>
        </p:nvSpPr>
        <p:spPr>
          <a:xfrm>
            <a:off x="6172200" y="3657600"/>
            <a:ext cx="5349240" cy="96012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D6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2"/>
          <p:cNvSpPr/>
          <p:nvPr/>
        </p:nvSpPr>
        <p:spPr>
          <a:xfrm>
            <a:off x="6446520" y="3657600"/>
            <a:ext cx="4846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Tone is easily misread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2"/>
          <p:cNvSpPr/>
          <p:nvPr/>
        </p:nvSpPr>
        <p:spPr>
          <a:xfrm>
            <a:off x="548640" y="4800600"/>
            <a:ext cx="5349240" cy="96012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D6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2"/>
          <p:cNvSpPr/>
          <p:nvPr/>
        </p:nvSpPr>
        <p:spPr>
          <a:xfrm>
            <a:off x="822960" y="4800600"/>
            <a:ext cx="4846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More people can see it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2"/>
          <p:cNvSpPr/>
          <p:nvPr/>
        </p:nvSpPr>
        <p:spPr>
          <a:xfrm>
            <a:off x="6172200" y="4800600"/>
            <a:ext cx="5349240" cy="96012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D6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2"/>
          <p:cNvSpPr/>
          <p:nvPr/>
        </p:nvSpPr>
        <p:spPr>
          <a:xfrm>
            <a:off x="6446520" y="4800600"/>
            <a:ext cx="4846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It spreads fast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2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2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E7D6F"/>
                </a:solidFill>
                <a:latin typeface="Calibri"/>
                <a:ea typeface="Calibri"/>
                <a:cs typeface="Calibri"/>
                <a:sym typeface="Calibri"/>
              </a:rPr>
              <a:t>LESSON 2 · MINI-LESSON · 8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3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F3A5F"/>
                </a:solidFill>
                <a:latin typeface="Cambria"/>
                <a:ea typeface="Cambria"/>
                <a:cs typeface="Cambria"/>
                <a:sym typeface="Cambria"/>
              </a:rPr>
              <a:t>Ask 3 Questions Before You Send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3"/>
          <p:cNvSpPr/>
          <p:nvPr/>
        </p:nvSpPr>
        <p:spPr>
          <a:xfrm>
            <a:off x="548640" y="1874520"/>
            <a:ext cx="11064240" cy="1188720"/>
          </a:xfrm>
          <a:prstGeom prst="roundRect">
            <a:avLst>
              <a:gd fmla="val 9231" name="adj"/>
            </a:avLst>
          </a:prstGeom>
          <a:solidFill>
            <a:srgbClr val="E4F0E8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3"/>
          <p:cNvSpPr/>
          <p:nvPr/>
        </p:nvSpPr>
        <p:spPr>
          <a:xfrm>
            <a:off x="868680" y="2185416"/>
            <a:ext cx="566928" cy="566928"/>
          </a:xfrm>
          <a:prstGeom prst="ellipse">
            <a:avLst/>
          </a:prstGeom>
          <a:solidFill>
            <a:srgbClr val="2E7D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3"/>
          <p:cNvSpPr/>
          <p:nvPr/>
        </p:nvSpPr>
        <p:spPr>
          <a:xfrm>
            <a:off x="868680" y="2185416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3"/>
          <p:cNvSpPr/>
          <p:nvPr/>
        </p:nvSpPr>
        <p:spPr>
          <a:xfrm>
            <a:off x="1691640" y="1984248"/>
            <a:ext cx="31089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F3A5F"/>
                </a:solidFill>
                <a:latin typeface="Cambria"/>
                <a:ea typeface="Cambria"/>
                <a:cs typeface="Cambria"/>
                <a:sym typeface="Cambria"/>
              </a:rPr>
              <a:t>SAFE?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3"/>
          <p:cNvSpPr/>
          <p:nvPr/>
        </p:nvSpPr>
        <p:spPr>
          <a:xfrm>
            <a:off x="4480560" y="1874520"/>
            <a:ext cx="6949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Could it hurt me or someone else, or reveal private information?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3"/>
          <p:cNvSpPr/>
          <p:nvPr/>
        </p:nvSpPr>
        <p:spPr>
          <a:xfrm>
            <a:off x="548640" y="3291840"/>
            <a:ext cx="11064240" cy="1188720"/>
          </a:xfrm>
          <a:prstGeom prst="roundRect">
            <a:avLst>
              <a:gd fmla="val 9231" name="adj"/>
            </a:avLst>
          </a:prstGeom>
          <a:solidFill>
            <a:srgbClr val="E4F0E8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3"/>
          <p:cNvSpPr/>
          <p:nvPr/>
        </p:nvSpPr>
        <p:spPr>
          <a:xfrm>
            <a:off x="868680" y="3602736"/>
            <a:ext cx="566928" cy="566928"/>
          </a:xfrm>
          <a:prstGeom prst="ellipse">
            <a:avLst/>
          </a:prstGeom>
          <a:solidFill>
            <a:srgbClr val="2E7D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3"/>
          <p:cNvSpPr/>
          <p:nvPr/>
        </p:nvSpPr>
        <p:spPr>
          <a:xfrm>
            <a:off x="868680" y="3602736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3"/>
          <p:cNvSpPr/>
          <p:nvPr/>
        </p:nvSpPr>
        <p:spPr>
          <a:xfrm>
            <a:off x="1691640" y="3401568"/>
            <a:ext cx="31089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F3A5F"/>
                </a:solidFill>
                <a:latin typeface="Cambria"/>
                <a:ea typeface="Cambria"/>
                <a:cs typeface="Cambria"/>
                <a:sym typeface="Cambria"/>
              </a:rPr>
              <a:t>RESPECTFUL?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3"/>
          <p:cNvSpPr/>
          <p:nvPr/>
        </p:nvSpPr>
        <p:spPr>
          <a:xfrm>
            <a:off x="4480560" y="3291840"/>
            <a:ext cx="6949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Would I say it to their face? Would I want it said about me?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3"/>
          <p:cNvSpPr/>
          <p:nvPr/>
        </p:nvSpPr>
        <p:spPr>
          <a:xfrm>
            <a:off x="548640" y="4709160"/>
            <a:ext cx="11064240" cy="1188720"/>
          </a:xfrm>
          <a:prstGeom prst="roundRect">
            <a:avLst>
              <a:gd fmla="val 9231" name="adj"/>
            </a:avLst>
          </a:prstGeom>
          <a:solidFill>
            <a:srgbClr val="F5EEDD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3"/>
          <p:cNvSpPr/>
          <p:nvPr/>
        </p:nvSpPr>
        <p:spPr>
          <a:xfrm>
            <a:off x="868680" y="5020056"/>
            <a:ext cx="566928" cy="566928"/>
          </a:xfrm>
          <a:prstGeom prst="ellipse">
            <a:avLst/>
          </a:prstGeom>
          <a:solidFill>
            <a:srgbClr val="2E7D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3"/>
          <p:cNvSpPr/>
          <p:nvPr/>
        </p:nvSpPr>
        <p:spPr>
          <a:xfrm>
            <a:off x="868680" y="5020056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3"/>
          <p:cNvSpPr/>
          <p:nvPr/>
        </p:nvSpPr>
        <p:spPr>
          <a:xfrm>
            <a:off x="1691640" y="4818888"/>
            <a:ext cx="31089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F3A5F"/>
                </a:solidFill>
                <a:latin typeface="Cambria"/>
                <a:ea typeface="Cambria"/>
                <a:cs typeface="Cambria"/>
                <a:sym typeface="Cambria"/>
              </a:rPr>
              <a:t>LEGAL / ALLOWED?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3"/>
          <p:cNvSpPr/>
          <p:nvPr/>
        </p:nvSpPr>
        <p:spPr>
          <a:xfrm>
            <a:off x="4480560" y="4709160"/>
            <a:ext cx="6949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Do I own it or have permission to use or share it?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3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Apply to: messages · images · videos · classwork · music &amp; content you find online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3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3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LESSON 2 · DISCUSSION · 12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4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F3A5F"/>
                </a:solidFill>
                <a:latin typeface="Cambria"/>
                <a:ea typeface="Cambria"/>
                <a:cs typeface="Cambria"/>
                <a:sym typeface="Cambria"/>
              </a:rPr>
              <a:t>Bystander or Upstander?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4"/>
          <p:cNvSpPr/>
          <p:nvPr/>
        </p:nvSpPr>
        <p:spPr>
          <a:xfrm>
            <a:off x="548640" y="1783080"/>
            <a:ext cx="11064240" cy="1554480"/>
          </a:xfrm>
          <a:prstGeom prst="roundRect">
            <a:avLst>
              <a:gd fmla="val 7059" name="adj"/>
            </a:avLst>
          </a:prstGeom>
          <a:solidFill>
            <a:srgbClr val="EEF3F5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4"/>
          <p:cNvSpPr/>
          <p:nvPr/>
        </p:nvSpPr>
        <p:spPr>
          <a:xfrm>
            <a:off x="914400" y="187452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A group chat starts making fun of a student. Someone shares a screenshot of that student’s private message and others pile on. One student thinks it’s wrong but doesn’t know what to do.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4"/>
          <p:cNvSpPr/>
          <p:nvPr/>
        </p:nvSpPr>
        <p:spPr>
          <a:xfrm>
            <a:off x="548640" y="3611880"/>
            <a:ext cx="5349240" cy="96012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D6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4"/>
          <p:cNvSpPr/>
          <p:nvPr/>
        </p:nvSpPr>
        <p:spPr>
          <a:xfrm>
            <a:off x="777240" y="3813048"/>
            <a:ext cx="548640" cy="548640"/>
          </a:xfrm>
          <a:prstGeom prst="ellipse">
            <a:avLst/>
          </a:prstGeom>
          <a:solidFill>
            <a:srgbClr val="2E7D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4"/>
          <p:cNvSpPr/>
          <p:nvPr/>
        </p:nvSpPr>
        <p:spPr>
          <a:xfrm>
            <a:off x="777240" y="381304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4"/>
          <p:cNvSpPr/>
          <p:nvPr/>
        </p:nvSpPr>
        <p:spPr>
          <a:xfrm>
            <a:off x="1463040" y="3611880"/>
            <a:ext cx="42519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What choices does the bystander have?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4"/>
          <p:cNvSpPr/>
          <p:nvPr/>
        </p:nvSpPr>
        <p:spPr>
          <a:xfrm>
            <a:off x="6172200" y="3611880"/>
            <a:ext cx="5349240" cy="96012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D6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4"/>
          <p:cNvSpPr/>
          <p:nvPr/>
        </p:nvSpPr>
        <p:spPr>
          <a:xfrm>
            <a:off x="6400800" y="3813048"/>
            <a:ext cx="548640" cy="548640"/>
          </a:xfrm>
          <a:prstGeom prst="ellipse">
            <a:avLst/>
          </a:prstGeom>
          <a:solidFill>
            <a:srgbClr val="2E7D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4"/>
          <p:cNvSpPr/>
          <p:nvPr/>
        </p:nvSpPr>
        <p:spPr>
          <a:xfrm>
            <a:off x="6400800" y="381304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7086600" y="3611880"/>
            <a:ext cx="42519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Which choices make it worse?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4"/>
          <p:cNvSpPr/>
          <p:nvPr/>
        </p:nvSpPr>
        <p:spPr>
          <a:xfrm>
            <a:off x="548640" y="4754880"/>
            <a:ext cx="5349240" cy="96012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D6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4"/>
          <p:cNvSpPr/>
          <p:nvPr/>
        </p:nvSpPr>
        <p:spPr>
          <a:xfrm>
            <a:off x="777240" y="4956048"/>
            <a:ext cx="548640" cy="548640"/>
          </a:xfrm>
          <a:prstGeom prst="ellipse">
            <a:avLst/>
          </a:prstGeom>
          <a:solidFill>
            <a:srgbClr val="2E7D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4"/>
          <p:cNvSpPr/>
          <p:nvPr/>
        </p:nvSpPr>
        <p:spPr>
          <a:xfrm>
            <a:off x="777240" y="495604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4"/>
          <p:cNvSpPr/>
          <p:nvPr/>
        </p:nvSpPr>
        <p:spPr>
          <a:xfrm>
            <a:off x="1463040" y="4754880"/>
            <a:ext cx="42519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Which choices help?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4"/>
          <p:cNvSpPr/>
          <p:nvPr/>
        </p:nvSpPr>
        <p:spPr>
          <a:xfrm>
            <a:off x="6172200" y="4754880"/>
            <a:ext cx="5349240" cy="96012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D6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4"/>
          <p:cNvSpPr/>
          <p:nvPr/>
        </p:nvSpPr>
        <p:spPr>
          <a:xfrm>
            <a:off x="6400800" y="4956048"/>
            <a:ext cx="548640" cy="548640"/>
          </a:xfrm>
          <a:prstGeom prst="ellipse">
            <a:avLst/>
          </a:prstGeom>
          <a:solidFill>
            <a:srgbClr val="2E7D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4"/>
          <p:cNvSpPr/>
          <p:nvPr/>
        </p:nvSpPr>
        <p:spPr>
          <a:xfrm>
            <a:off x="6400800" y="495604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4"/>
          <p:cNvSpPr/>
          <p:nvPr/>
        </p:nvSpPr>
        <p:spPr>
          <a:xfrm>
            <a:off x="7086600" y="4754880"/>
            <a:ext cx="42519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What could a safe upstander do?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4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4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E7D6F"/>
                </a:solidFill>
                <a:latin typeface="Calibri"/>
                <a:ea typeface="Calibri"/>
                <a:cs typeface="Calibri"/>
                <a:sym typeface="Calibri"/>
              </a:rPr>
              <a:t>LESSON 2 · MODEL &amp; APPLY · 14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5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F3A5F"/>
                </a:solidFill>
                <a:latin typeface="Cambria"/>
                <a:ea typeface="Cambria"/>
                <a:cs typeface="Cambria"/>
                <a:sym typeface="Cambria"/>
              </a:rPr>
              <a:t>Safe Words + Copyright Check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5"/>
          <p:cNvSpPr/>
          <p:nvPr/>
        </p:nvSpPr>
        <p:spPr>
          <a:xfrm>
            <a:off x="548640" y="1783080"/>
            <a:ext cx="5486400" cy="4206240"/>
          </a:xfrm>
          <a:prstGeom prst="roundRect">
            <a:avLst>
              <a:gd fmla="val 2609" name="adj"/>
            </a:avLst>
          </a:prstGeom>
          <a:solidFill>
            <a:srgbClr val="E4F0E8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5"/>
          <p:cNvSpPr/>
          <p:nvPr/>
        </p:nvSpPr>
        <p:spPr>
          <a:xfrm>
            <a:off x="822960" y="196596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2E7D6F"/>
                </a:solidFill>
                <a:latin typeface="Cambria"/>
                <a:ea typeface="Cambria"/>
                <a:cs typeface="Cambria"/>
                <a:sym typeface="Cambria"/>
              </a:rPr>
              <a:t>Safe-response language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5"/>
          <p:cNvSpPr/>
          <p:nvPr/>
        </p:nvSpPr>
        <p:spPr>
          <a:xfrm>
            <a:off x="868680" y="2514600"/>
            <a:ext cx="484632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800"/>
              <a:buFont typeface="Calibri"/>
              <a:buChar char="•"/>
            </a:pPr>
            <a:r>
              <a:rPr b="0" i="1" lang="en-US" sz="18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“This is not okay. I’m not participating.”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22B33"/>
              </a:buClr>
              <a:buSzPts val="1800"/>
              <a:buFont typeface="Calibri"/>
              <a:buChar char="•"/>
            </a:pPr>
            <a:r>
              <a:rPr b="0" i="1" lang="en-US" sz="18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“Please stop sending this.”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22B33"/>
              </a:buClr>
              <a:buSzPts val="1800"/>
              <a:buFont typeface="Calibri"/>
              <a:buChar char="•"/>
            </a:pPr>
            <a:r>
              <a:rPr b="0" i="1" lang="en-US" sz="18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“I’m going to report this to an adult.”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22B33"/>
              </a:buClr>
              <a:buSzPts val="1800"/>
              <a:buFont typeface="Calibri"/>
              <a:buChar char="•"/>
            </a:pPr>
            <a:r>
              <a:rPr b="0" i="1" lang="en-US" sz="18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“Do not forward this.”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5"/>
          <p:cNvSpPr/>
          <p:nvPr/>
        </p:nvSpPr>
        <p:spPr>
          <a:xfrm>
            <a:off x="6263640" y="1783080"/>
            <a:ext cx="5349240" cy="4206240"/>
          </a:xfrm>
          <a:prstGeom prst="roundRect">
            <a:avLst>
              <a:gd fmla="val 2609" name="adj"/>
            </a:avLst>
          </a:prstGeom>
          <a:solidFill>
            <a:srgbClr val="F5EEDD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5"/>
          <p:cNvSpPr/>
          <p:nvPr/>
        </p:nvSpPr>
        <p:spPr>
          <a:xfrm>
            <a:off x="6537960" y="196596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B7791F"/>
                </a:solidFill>
                <a:latin typeface="Cambria"/>
                <a:ea typeface="Cambria"/>
                <a:cs typeface="Cambria"/>
                <a:sym typeface="Cambria"/>
              </a:rPr>
              <a:t>“It’s online” ≠ “it’s free”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5"/>
          <p:cNvSpPr/>
          <p:nvPr/>
        </p:nvSpPr>
        <p:spPr>
          <a:xfrm>
            <a:off x="6583680" y="251460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Allowed:  original artwork · a properly cited image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222B33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Ask / cite:  a picture copied with no credit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222B33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Not allowed:  a song used without permission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1F3A5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Content belongs to whoever made it.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5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5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E7D6F"/>
                </a:solidFill>
                <a:latin typeface="Calibri"/>
                <a:ea typeface="Calibri"/>
                <a:cs typeface="Calibri"/>
                <a:sym typeface="Calibri"/>
              </a:rPr>
              <a:t>LESSON 2 · EXIT TICKET · 3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6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F3A5F"/>
                </a:solidFill>
                <a:latin typeface="Cambria"/>
                <a:ea typeface="Cambria"/>
                <a:cs typeface="Cambria"/>
                <a:sym typeface="Cambria"/>
              </a:rPr>
              <a:t>Before You Go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6"/>
          <p:cNvSpPr/>
          <p:nvPr/>
        </p:nvSpPr>
        <p:spPr>
          <a:xfrm>
            <a:off x="548640" y="2011680"/>
            <a:ext cx="11064240" cy="1051560"/>
          </a:xfrm>
          <a:prstGeom prst="roundRect">
            <a:avLst>
              <a:gd fmla="val 10435" name="adj"/>
            </a:avLst>
          </a:prstGeom>
          <a:solidFill>
            <a:srgbClr val="EEF3F5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6"/>
          <p:cNvSpPr/>
          <p:nvPr/>
        </p:nvSpPr>
        <p:spPr>
          <a:xfrm>
            <a:off x="822960" y="2258568"/>
            <a:ext cx="548640" cy="548640"/>
          </a:xfrm>
          <a:prstGeom prst="ellipse">
            <a:avLst/>
          </a:prstGeom>
          <a:solidFill>
            <a:srgbClr val="2E7D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6"/>
          <p:cNvSpPr/>
          <p:nvPr/>
        </p:nvSpPr>
        <p:spPr>
          <a:xfrm>
            <a:off x="822960" y="225856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6"/>
          <p:cNvSpPr/>
          <p:nvPr/>
        </p:nvSpPr>
        <p:spPr>
          <a:xfrm>
            <a:off x="1600200" y="2011680"/>
            <a:ext cx="97840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One way to be an upstander online is…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6"/>
          <p:cNvSpPr/>
          <p:nvPr/>
        </p:nvSpPr>
        <p:spPr>
          <a:xfrm>
            <a:off x="548640" y="3291840"/>
            <a:ext cx="11064240" cy="1051560"/>
          </a:xfrm>
          <a:prstGeom prst="roundRect">
            <a:avLst>
              <a:gd fmla="val 10435" name="adj"/>
            </a:avLst>
          </a:prstGeom>
          <a:solidFill>
            <a:srgbClr val="EEF3F5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6"/>
          <p:cNvSpPr/>
          <p:nvPr/>
        </p:nvSpPr>
        <p:spPr>
          <a:xfrm>
            <a:off x="822960" y="3538728"/>
            <a:ext cx="548640" cy="548640"/>
          </a:xfrm>
          <a:prstGeom prst="ellipse">
            <a:avLst/>
          </a:prstGeom>
          <a:solidFill>
            <a:srgbClr val="2E7D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6"/>
          <p:cNvSpPr/>
          <p:nvPr/>
        </p:nvSpPr>
        <p:spPr>
          <a:xfrm>
            <a:off x="822960" y="353872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6"/>
          <p:cNvSpPr/>
          <p:nvPr/>
        </p:nvSpPr>
        <p:spPr>
          <a:xfrm>
            <a:off x="1600200" y="3291840"/>
            <a:ext cx="97840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One reason not to forward harmful content is…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6"/>
          <p:cNvSpPr/>
          <p:nvPr/>
        </p:nvSpPr>
        <p:spPr>
          <a:xfrm>
            <a:off x="548640" y="4572000"/>
            <a:ext cx="11064240" cy="1051560"/>
          </a:xfrm>
          <a:prstGeom prst="roundRect">
            <a:avLst>
              <a:gd fmla="val 10435" name="adj"/>
            </a:avLst>
          </a:prstGeom>
          <a:solidFill>
            <a:srgbClr val="EEF3F5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6"/>
          <p:cNvSpPr/>
          <p:nvPr/>
        </p:nvSpPr>
        <p:spPr>
          <a:xfrm>
            <a:off x="822960" y="4818888"/>
            <a:ext cx="548640" cy="548640"/>
          </a:xfrm>
          <a:prstGeom prst="ellipse">
            <a:avLst/>
          </a:prstGeom>
          <a:solidFill>
            <a:srgbClr val="2E7D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6"/>
          <p:cNvSpPr/>
          <p:nvPr/>
        </p:nvSpPr>
        <p:spPr>
          <a:xfrm>
            <a:off x="822960" y="481888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6"/>
          <p:cNvSpPr/>
          <p:nvPr/>
        </p:nvSpPr>
        <p:spPr>
          <a:xfrm>
            <a:off x="1600200" y="4572000"/>
            <a:ext cx="97840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One way to respect digital ownership is…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6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6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A5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7"/>
          <p:cNvSpPr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7C9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9DB7C9"/>
                </a:solidFill>
                <a:latin typeface="Calibri"/>
                <a:ea typeface="Calibri"/>
                <a:cs typeface="Calibri"/>
                <a:sym typeface="Calibri"/>
              </a:rPr>
              <a:t>LESSON 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7"/>
          <p:cNvSpPr/>
          <p:nvPr/>
        </p:nvSpPr>
        <p:spPr>
          <a:xfrm>
            <a:off x="822960" y="233172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Think Before You Click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7"/>
          <p:cNvSpPr/>
          <p:nvPr/>
        </p:nvSpPr>
        <p:spPr>
          <a:xfrm>
            <a:off x="822960" y="4114800"/>
            <a:ext cx="10515600" cy="1371600"/>
          </a:xfrm>
          <a:prstGeom prst="roundRect">
            <a:avLst>
              <a:gd fmla="val 6667" name="adj"/>
            </a:avLst>
          </a:prstGeom>
          <a:solidFill>
            <a:srgbClr val="2A4A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7"/>
          <p:cNvSpPr/>
          <p:nvPr/>
        </p:nvSpPr>
        <p:spPr>
          <a:xfrm>
            <a:off x="1097280" y="4251960"/>
            <a:ext cx="9966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Essential Question</a:t>
            </a:r>
            <a:br>
              <a:rPr b="1" i="0" lang="en-US" sz="13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How can I tell whether an online message or website is trustworthy?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7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7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8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E7D6F"/>
                </a:solidFill>
                <a:latin typeface="Calibri"/>
                <a:ea typeface="Calibri"/>
                <a:cs typeface="Calibri"/>
                <a:sym typeface="Calibri"/>
              </a:rPr>
              <a:t>LESSON 3 · WARM-UP · 5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8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F3A5F"/>
                </a:solidFill>
                <a:latin typeface="Cambria"/>
                <a:ea typeface="Cambria"/>
                <a:cs typeface="Cambria"/>
                <a:sym typeface="Cambria"/>
              </a:rPr>
              <a:t>Too Good To Be True?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548640" y="1920240"/>
            <a:ext cx="11064240" cy="1737360"/>
          </a:xfrm>
          <a:prstGeom prst="roundRect">
            <a:avLst>
              <a:gd fmla="val 6316" name="adj"/>
            </a:avLst>
          </a:prstGeom>
          <a:solidFill>
            <a:srgbClr val="E4F0E8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8"/>
          <p:cNvSpPr/>
          <p:nvPr/>
        </p:nvSpPr>
        <p:spPr>
          <a:xfrm>
            <a:off x="914400" y="2057400"/>
            <a:ext cx="10332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2800"/>
              <a:buFont typeface="Cambria"/>
              <a:buNone/>
            </a:pPr>
            <a:r>
              <a:rPr b="0" i="1" lang="en-US" sz="2800" u="none" cap="none" strike="noStrike">
                <a:solidFill>
                  <a:srgbClr val="1F3A5F"/>
                </a:solidFill>
                <a:latin typeface="Cambria"/>
                <a:ea typeface="Cambria"/>
                <a:cs typeface="Cambria"/>
                <a:sym typeface="Cambria"/>
              </a:rPr>
              <a:t>“Have you ever seen a message that seemed too good to be true?”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2743200" y="4023360"/>
            <a:ext cx="7315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Why do people fall for scams?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4A4A4A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Why do scammers make messages sound exciting or urgent?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8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9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E7D6F"/>
                </a:solidFill>
                <a:latin typeface="Calibri"/>
                <a:ea typeface="Calibri"/>
                <a:cs typeface="Calibri"/>
                <a:sym typeface="Calibri"/>
              </a:rPr>
              <a:t>LESSON 3 · MINI-LESSON · 10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9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F3A5F"/>
                </a:solidFill>
                <a:latin typeface="Cambria"/>
                <a:ea typeface="Cambria"/>
                <a:cs typeface="Cambria"/>
                <a:sym typeface="Cambria"/>
              </a:rPr>
              <a:t>Scam Warning Signs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9"/>
          <p:cNvSpPr/>
          <p:nvPr/>
        </p:nvSpPr>
        <p:spPr>
          <a:xfrm>
            <a:off x="548640" y="1783080"/>
            <a:ext cx="5349240" cy="896112"/>
          </a:xfrm>
          <a:prstGeom prst="roundRect">
            <a:avLst>
              <a:gd fmla="val 12245" name="adj"/>
            </a:avLst>
          </a:prstGeom>
          <a:solidFill>
            <a:srgbClr val="FFFFFF"/>
          </a:solidFill>
          <a:ln cap="flat" cmpd="sng" w="12700">
            <a:solidFill>
              <a:srgbClr val="D6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9"/>
          <p:cNvSpPr/>
          <p:nvPr/>
        </p:nvSpPr>
        <p:spPr>
          <a:xfrm>
            <a:off x="822960" y="1783080"/>
            <a:ext cx="48463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“Act now!” — urgency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9"/>
          <p:cNvSpPr/>
          <p:nvPr/>
        </p:nvSpPr>
        <p:spPr>
          <a:xfrm>
            <a:off x="6172200" y="1783080"/>
            <a:ext cx="5349240" cy="896112"/>
          </a:xfrm>
          <a:prstGeom prst="roundRect">
            <a:avLst>
              <a:gd fmla="val 12245" name="adj"/>
            </a:avLst>
          </a:prstGeom>
          <a:solidFill>
            <a:srgbClr val="FFFFFF"/>
          </a:solidFill>
          <a:ln cap="flat" cmpd="sng" w="12700">
            <a:solidFill>
              <a:srgbClr val="D6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9"/>
          <p:cNvSpPr/>
          <p:nvPr/>
        </p:nvSpPr>
        <p:spPr>
          <a:xfrm>
            <a:off x="6446520" y="1783080"/>
            <a:ext cx="48463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“You’ve won a prize!”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9"/>
          <p:cNvSpPr/>
          <p:nvPr/>
        </p:nvSpPr>
        <p:spPr>
          <a:xfrm>
            <a:off x="548640" y="2862072"/>
            <a:ext cx="5349240" cy="896112"/>
          </a:xfrm>
          <a:prstGeom prst="roundRect">
            <a:avLst>
              <a:gd fmla="val 12245" name="adj"/>
            </a:avLst>
          </a:prstGeom>
          <a:solidFill>
            <a:srgbClr val="FFFFFF"/>
          </a:solidFill>
          <a:ln cap="flat" cmpd="sng" w="12700">
            <a:solidFill>
              <a:srgbClr val="D6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9"/>
          <p:cNvSpPr/>
          <p:nvPr/>
        </p:nvSpPr>
        <p:spPr>
          <a:xfrm>
            <a:off x="822960" y="2862072"/>
            <a:ext cx="48463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Asks for your password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9"/>
          <p:cNvSpPr/>
          <p:nvPr/>
        </p:nvSpPr>
        <p:spPr>
          <a:xfrm>
            <a:off x="6172200" y="2862072"/>
            <a:ext cx="5349240" cy="896112"/>
          </a:xfrm>
          <a:prstGeom prst="roundRect">
            <a:avLst>
              <a:gd fmla="val 12245" name="adj"/>
            </a:avLst>
          </a:prstGeom>
          <a:solidFill>
            <a:srgbClr val="FFFFFF"/>
          </a:solidFill>
          <a:ln cap="flat" cmpd="sng" w="12700">
            <a:solidFill>
              <a:srgbClr val="D6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9"/>
          <p:cNvSpPr/>
          <p:nvPr/>
        </p:nvSpPr>
        <p:spPr>
          <a:xfrm>
            <a:off x="6446520" y="2862072"/>
            <a:ext cx="48463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Asks for personal info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9"/>
          <p:cNvSpPr/>
          <p:nvPr/>
        </p:nvSpPr>
        <p:spPr>
          <a:xfrm>
            <a:off x="548640" y="3941064"/>
            <a:ext cx="5349240" cy="896112"/>
          </a:xfrm>
          <a:prstGeom prst="roundRect">
            <a:avLst>
              <a:gd fmla="val 12245" name="adj"/>
            </a:avLst>
          </a:prstGeom>
          <a:solidFill>
            <a:srgbClr val="FFFFFF"/>
          </a:solidFill>
          <a:ln cap="flat" cmpd="sng" w="12700">
            <a:solidFill>
              <a:srgbClr val="D6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9"/>
          <p:cNvSpPr/>
          <p:nvPr/>
        </p:nvSpPr>
        <p:spPr>
          <a:xfrm>
            <a:off x="822960" y="3941064"/>
            <a:ext cx="48463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Poor spelling / grammar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9"/>
          <p:cNvSpPr/>
          <p:nvPr/>
        </p:nvSpPr>
        <p:spPr>
          <a:xfrm>
            <a:off x="6172200" y="3941064"/>
            <a:ext cx="5349240" cy="896112"/>
          </a:xfrm>
          <a:prstGeom prst="roundRect">
            <a:avLst>
              <a:gd fmla="val 12245" name="adj"/>
            </a:avLst>
          </a:prstGeom>
          <a:solidFill>
            <a:srgbClr val="FFFFFF"/>
          </a:solidFill>
          <a:ln cap="flat" cmpd="sng" w="12700">
            <a:solidFill>
              <a:srgbClr val="D6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9"/>
          <p:cNvSpPr/>
          <p:nvPr/>
        </p:nvSpPr>
        <p:spPr>
          <a:xfrm>
            <a:off x="6446520" y="3941064"/>
            <a:ext cx="48463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Unknown sender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9"/>
          <p:cNvSpPr/>
          <p:nvPr/>
        </p:nvSpPr>
        <p:spPr>
          <a:xfrm>
            <a:off x="548640" y="5020056"/>
            <a:ext cx="5349240" cy="896112"/>
          </a:xfrm>
          <a:prstGeom prst="roundRect">
            <a:avLst>
              <a:gd fmla="val 12245" name="adj"/>
            </a:avLst>
          </a:prstGeom>
          <a:solidFill>
            <a:srgbClr val="FFFFFF"/>
          </a:solidFill>
          <a:ln cap="flat" cmpd="sng" w="12700">
            <a:solidFill>
              <a:srgbClr val="D6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9"/>
          <p:cNvSpPr/>
          <p:nvPr/>
        </p:nvSpPr>
        <p:spPr>
          <a:xfrm>
            <a:off x="822960" y="5020056"/>
            <a:ext cx="48463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Suspicious links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9"/>
          <p:cNvSpPr/>
          <p:nvPr/>
        </p:nvSpPr>
        <p:spPr>
          <a:xfrm>
            <a:off x="6172200" y="5020056"/>
            <a:ext cx="5349240" cy="896112"/>
          </a:xfrm>
          <a:prstGeom prst="roundRect">
            <a:avLst>
              <a:gd fmla="val 12245" name="adj"/>
            </a:avLst>
          </a:prstGeom>
          <a:solidFill>
            <a:srgbClr val="F5EEDD"/>
          </a:solidFill>
          <a:ln cap="flat" cmpd="sng" w="12700">
            <a:solidFill>
              <a:srgbClr val="D6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9"/>
          <p:cNvSpPr/>
          <p:nvPr/>
        </p:nvSpPr>
        <p:spPr>
          <a:xfrm>
            <a:off x="6446520" y="5020056"/>
            <a:ext cx="48463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Feels off? Trust that.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9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9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A5F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0"/>
          <p:cNvSpPr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LESSON 3 · ANCHOR CHART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0"/>
          <p:cNvSpPr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Before You Click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0"/>
          <p:cNvSpPr/>
          <p:nvPr/>
        </p:nvSpPr>
        <p:spPr>
          <a:xfrm>
            <a:off x="822960" y="2148840"/>
            <a:ext cx="10515600" cy="1143000"/>
          </a:xfrm>
          <a:prstGeom prst="roundRect">
            <a:avLst>
              <a:gd fmla="val 8000" name="adj"/>
            </a:avLst>
          </a:prstGeom>
          <a:solidFill>
            <a:srgbClr val="2A4A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0"/>
          <p:cNvSpPr/>
          <p:nvPr/>
        </p:nvSpPr>
        <p:spPr>
          <a:xfrm>
            <a:off x="1097280" y="2441448"/>
            <a:ext cx="566928" cy="566928"/>
          </a:xfrm>
          <a:prstGeom prst="ellipse">
            <a:avLst/>
          </a:prstGeom>
          <a:solidFill>
            <a:srgbClr val="B779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0"/>
          <p:cNvSpPr/>
          <p:nvPr/>
        </p:nvSpPr>
        <p:spPr>
          <a:xfrm>
            <a:off x="1097280" y="244144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0"/>
          <p:cNvSpPr/>
          <p:nvPr/>
        </p:nvSpPr>
        <p:spPr>
          <a:xfrm>
            <a:off x="1965960" y="2148840"/>
            <a:ext cx="2926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STOP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0"/>
          <p:cNvSpPr/>
          <p:nvPr/>
        </p:nvSpPr>
        <p:spPr>
          <a:xfrm>
            <a:off x="4754880" y="2148840"/>
            <a:ext cx="6400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3EA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D8E3EA"/>
                </a:solidFill>
                <a:latin typeface="Calibri"/>
                <a:ea typeface="Calibri"/>
                <a:cs typeface="Calibri"/>
                <a:sym typeface="Calibri"/>
              </a:rPr>
              <a:t>Don’t click or reply right away.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0"/>
          <p:cNvSpPr/>
          <p:nvPr/>
        </p:nvSpPr>
        <p:spPr>
          <a:xfrm>
            <a:off x="822960" y="3520440"/>
            <a:ext cx="10515600" cy="1143000"/>
          </a:xfrm>
          <a:prstGeom prst="roundRect">
            <a:avLst>
              <a:gd fmla="val 8000" name="adj"/>
            </a:avLst>
          </a:prstGeom>
          <a:solidFill>
            <a:srgbClr val="2A4A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0"/>
          <p:cNvSpPr/>
          <p:nvPr/>
        </p:nvSpPr>
        <p:spPr>
          <a:xfrm>
            <a:off x="1097280" y="3813048"/>
            <a:ext cx="566928" cy="566928"/>
          </a:xfrm>
          <a:prstGeom prst="ellipse">
            <a:avLst/>
          </a:prstGeom>
          <a:solidFill>
            <a:srgbClr val="B779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0"/>
          <p:cNvSpPr/>
          <p:nvPr/>
        </p:nvSpPr>
        <p:spPr>
          <a:xfrm>
            <a:off x="1097280" y="381304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0"/>
          <p:cNvSpPr/>
          <p:nvPr/>
        </p:nvSpPr>
        <p:spPr>
          <a:xfrm>
            <a:off x="1965960" y="3520440"/>
            <a:ext cx="2926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THINK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0"/>
          <p:cNvSpPr/>
          <p:nvPr/>
        </p:nvSpPr>
        <p:spPr>
          <a:xfrm>
            <a:off x="4754880" y="3520440"/>
            <a:ext cx="6400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3EA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D8E3EA"/>
                </a:solidFill>
                <a:latin typeface="Calibri"/>
                <a:ea typeface="Calibri"/>
                <a:cs typeface="Calibri"/>
                <a:sym typeface="Calibri"/>
              </a:rPr>
              <a:t>Do the warning signs show up here?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0"/>
          <p:cNvSpPr/>
          <p:nvPr/>
        </p:nvSpPr>
        <p:spPr>
          <a:xfrm>
            <a:off x="822960" y="4892040"/>
            <a:ext cx="10515600" cy="1143000"/>
          </a:xfrm>
          <a:prstGeom prst="roundRect">
            <a:avLst>
              <a:gd fmla="val 8000" name="adj"/>
            </a:avLst>
          </a:prstGeom>
          <a:solidFill>
            <a:srgbClr val="2A4A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0"/>
          <p:cNvSpPr/>
          <p:nvPr/>
        </p:nvSpPr>
        <p:spPr>
          <a:xfrm>
            <a:off x="1097280" y="5184648"/>
            <a:ext cx="566928" cy="566928"/>
          </a:xfrm>
          <a:prstGeom prst="ellipse">
            <a:avLst/>
          </a:prstGeom>
          <a:solidFill>
            <a:srgbClr val="B779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0"/>
          <p:cNvSpPr/>
          <p:nvPr/>
        </p:nvSpPr>
        <p:spPr>
          <a:xfrm>
            <a:off x="1097280" y="518464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0"/>
          <p:cNvSpPr/>
          <p:nvPr/>
        </p:nvSpPr>
        <p:spPr>
          <a:xfrm>
            <a:off x="1965960" y="4892040"/>
            <a:ext cx="2926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VERIFY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0"/>
          <p:cNvSpPr/>
          <p:nvPr/>
        </p:nvSpPr>
        <p:spPr>
          <a:xfrm>
            <a:off x="4754880" y="4892040"/>
            <a:ext cx="6400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3EA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D8E3EA"/>
                </a:solidFill>
                <a:latin typeface="Calibri"/>
                <a:ea typeface="Calibri"/>
                <a:cs typeface="Calibri"/>
                <a:sym typeface="Calibri"/>
              </a:rPr>
              <a:t>Check with a trusted adult, or go to the real site directly.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0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1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LESSON 3 · ACTIVITY · 15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F3A5F"/>
                </a:solidFill>
                <a:latin typeface="Cambria"/>
                <a:ea typeface="Cambria"/>
                <a:cs typeface="Cambria"/>
                <a:sym typeface="Cambria"/>
              </a:rPr>
              <a:t>Scam Detectives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1"/>
          <p:cNvSpPr/>
          <p:nvPr/>
        </p:nvSpPr>
        <p:spPr>
          <a:xfrm>
            <a:off x="548640" y="1783080"/>
            <a:ext cx="5349240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D6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1"/>
          <p:cNvSpPr/>
          <p:nvPr/>
        </p:nvSpPr>
        <p:spPr>
          <a:xfrm>
            <a:off x="822960" y="189280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E7D6F"/>
                </a:solidFill>
                <a:latin typeface="Cambria"/>
                <a:ea typeface="Cambria"/>
                <a:cs typeface="Cambria"/>
                <a:sym typeface="Cambria"/>
              </a:rPr>
              <a:t>Card 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1"/>
          <p:cNvSpPr/>
          <p:nvPr/>
        </p:nvSpPr>
        <p:spPr>
          <a:xfrm>
            <a:off x="822960" y="2240280"/>
            <a:ext cx="4846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“You won a free console! Click in the next 5 minutes.”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1"/>
          <p:cNvSpPr/>
          <p:nvPr/>
        </p:nvSpPr>
        <p:spPr>
          <a:xfrm>
            <a:off x="6172200" y="1783080"/>
            <a:ext cx="5349240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D6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1"/>
          <p:cNvSpPr/>
          <p:nvPr/>
        </p:nvSpPr>
        <p:spPr>
          <a:xfrm>
            <a:off x="6446520" y="189280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E7D6F"/>
                </a:solidFill>
                <a:latin typeface="Cambria"/>
                <a:ea typeface="Cambria"/>
                <a:cs typeface="Cambria"/>
                <a:sym typeface="Cambria"/>
              </a:rPr>
              <a:t>Card 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1"/>
          <p:cNvSpPr/>
          <p:nvPr/>
        </p:nvSpPr>
        <p:spPr>
          <a:xfrm>
            <a:off x="6446520" y="2240280"/>
            <a:ext cx="4846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“Your school password expired. Enter it now.”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1"/>
          <p:cNvSpPr/>
          <p:nvPr/>
        </p:nvSpPr>
        <p:spPr>
          <a:xfrm>
            <a:off x="548640" y="3337560"/>
            <a:ext cx="5349240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D6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1"/>
          <p:cNvSpPr/>
          <p:nvPr/>
        </p:nvSpPr>
        <p:spPr>
          <a:xfrm>
            <a:off x="822960" y="344728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E7D6F"/>
                </a:solidFill>
                <a:latin typeface="Cambria"/>
                <a:ea typeface="Cambria"/>
                <a:cs typeface="Cambria"/>
                <a:sym typeface="Cambria"/>
              </a:rPr>
              <a:t>Card 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1"/>
          <p:cNvSpPr/>
          <p:nvPr/>
        </p:nvSpPr>
        <p:spPr>
          <a:xfrm>
            <a:off x="822960" y="3794760"/>
            <a:ext cx="4846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A friend sends a link to a class project site.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1"/>
          <p:cNvSpPr/>
          <p:nvPr/>
        </p:nvSpPr>
        <p:spPr>
          <a:xfrm>
            <a:off x="6172200" y="3337560"/>
            <a:ext cx="5349240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D6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1"/>
          <p:cNvSpPr/>
          <p:nvPr/>
        </p:nvSpPr>
        <p:spPr>
          <a:xfrm>
            <a:off x="6446520" y="344728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E7D6F"/>
                </a:solidFill>
                <a:latin typeface="Cambria"/>
                <a:ea typeface="Cambria"/>
                <a:cs typeface="Cambria"/>
                <a:sym typeface="Cambria"/>
              </a:rPr>
              <a:t>Card 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1"/>
          <p:cNvSpPr/>
          <p:nvPr/>
        </p:nvSpPr>
        <p:spPr>
          <a:xfrm>
            <a:off x="6446520" y="3794760"/>
            <a:ext cx="4846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A “famous gamer” asks for your username.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1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For each: Trustworthy or suspicious? · What clues? · What next? · Who can help verify?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1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1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A5F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2"/>
          <p:cNvSpPr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LESSON 3 · WHAT WOULD YOU DO?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2"/>
          <p:cNvSpPr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“School” Password Email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2"/>
          <p:cNvSpPr/>
          <p:nvPr/>
        </p:nvSpPr>
        <p:spPr>
          <a:xfrm>
            <a:off x="822960" y="2057400"/>
            <a:ext cx="10515600" cy="1280160"/>
          </a:xfrm>
          <a:prstGeom prst="roundRect">
            <a:avLst>
              <a:gd fmla="val 7143" name="adj"/>
            </a:avLst>
          </a:prstGeom>
          <a:solidFill>
            <a:srgbClr val="2A4A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2"/>
          <p:cNvSpPr/>
          <p:nvPr/>
        </p:nvSpPr>
        <p:spPr>
          <a:xfrm>
            <a:off x="1188720" y="2148840"/>
            <a:ext cx="9784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3EA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D8E3EA"/>
                </a:solidFill>
                <a:latin typeface="Calibri"/>
                <a:ea typeface="Calibri"/>
                <a:cs typeface="Calibri"/>
                <a:sym typeface="Calibri"/>
              </a:rPr>
              <a:t>An email that looks like it’s from the school says there’s a problem with your account and asks for your password.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2"/>
          <p:cNvSpPr/>
          <p:nvPr/>
        </p:nvSpPr>
        <p:spPr>
          <a:xfrm>
            <a:off x="822960" y="3611880"/>
            <a:ext cx="10515600" cy="2194560"/>
          </a:xfrm>
          <a:prstGeom prst="roundRect">
            <a:avLst>
              <a:gd fmla="val 4167" name="adj"/>
            </a:avLst>
          </a:prstGeom>
          <a:solidFill>
            <a:srgbClr val="E4F0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2"/>
          <p:cNvSpPr/>
          <p:nvPr/>
        </p:nvSpPr>
        <p:spPr>
          <a:xfrm>
            <a:off x="1188720" y="37947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E7D6F"/>
                </a:solidFill>
                <a:latin typeface="Calibri"/>
                <a:ea typeface="Calibri"/>
                <a:cs typeface="Calibri"/>
                <a:sym typeface="Calibri"/>
              </a:rPr>
              <a:t>MODEL RESPONSE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2"/>
          <p:cNvSpPr/>
          <p:nvPr/>
        </p:nvSpPr>
        <p:spPr>
          <a:xfrm>
            <a:off x="1188720" y="4160520"/>
            <a:ext cx="97840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2400"/>
              <a:buFont typeface="Cambria"/>
              <a:buNone/>
            </a:pPr>
            <a:r>
              <a:rPr b="1" i="1" lang="en-US" sz="2400" u="none" cap="none" strike="noStrike">
                <a:solidFill>
                  <a:srgbClr val="1F3A5F"/>
                </a:solidFill>
                <a:latin typeface="Cambria"/>
                <a:ea typeface="Cambria"/>
                <a:cs typeface="Cambria"/>
                <a:sym typeface="Cambria"/>
              </a:rPr>
              <a:t>“I will not enter my password. I’ll show the message to a trusted adult or school staff member to verify it.”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2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2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3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E7D6F"/>
                </a:solidFill>
                <a:latin typeface="Calibri"/>
                <a:ea typeface="Calibri"/>
                <a:cs typeface="Calibri"/>
                <a:sym typeface="Calibri"/>
              </a:rPr>
              <a:t>LESSON 3 · EXIT TICKET · 5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3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F3A5F"/>
                </a:solidFill>
                <a:latin typeface="Cambria"/>
                <a:ea typeface="Cambria"/>
                <a:cs typeface="Cambria"/>
                <a:sym typeface="Cambria"/>
              </a:rPr>
              <a:t>Before You Go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3"/>
          <p:cNvSpPr/>
          <p:nvPr/>
        </p:nvSpPr>
        <p:spPr>
          <a:xfrm>
            <a:off x="548640" y="2011680"/>
            <a:ext cx="11064240" cy="1051560"/>
          </a:xfrm>
          <a:prstGeom prst="roundRect">
            <a:avLst>
              <a:gd fmla="val 10435" name="adj"/>
            </a:avLst>
          </a:prstGeom>
          <a:solidFill>
            <a:srgbClr val="EEF3F5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3"/>
          <p:cNvSpPr/>
          <p:nvPr/>
        </p:nvSpPr>
        <p:spPr>
          <a:xfrm>
            <a:off x="822960" y="2258568"/>
            <a:ext cx="548640" cy="548640"/>
          </a:xfrm>
          <a:prstGeom prst="ellipse">
            <a:avLst/>
          </a:prstGeom>
          <a:solidFill>
            <a:srgbClr val="2E7D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3"/>
          <p:cNvSpPr/>
          <p:nvPr/>
        </p:nvSpPr>
        <p:spPr>
          <a:xfrm>
            <a:off x="822960" y="225856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3"/>
          <p:cNvSpPr/>
          <p:nvPr/>
        </p:nvSpPr>
        <p:spPr>
          <a:xfrm>
            <a:off x="1600200" y="2011680"/>
            <a:ext cx="97840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Name two signs that a message may be a scam.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3"/>
          <p:cNvSpPr/>
          <p:nvPr/>
        </p:nvSpPr>
        <p:spPr>
          <a:xfrm>
            <a:off x="548640" y="3291840"/>
            <a:ext cx="11064240" cy="1051560"/>
          </a:xfrm>
          <a:prstGeom prst="roundRect">
            <a:avLst>
              <a:gd fmla="val 10435" name="adj"/>
            </a:avLst>
          </a:prstGeom>
          <a:solidFill>
            <a:srgbClr val="EEF3F5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3"/>
          <p:cNvSpPr/>
          <p:nvPr/>
        </p:nvSpPr>
        <p:spPr>
          <a:xfrm>
            <a:off x="822960" y="3538728"/>
            <a:ext cx="548640" cy="548640"/>
          </a:xfrm>
          <a:prstGeom prst="ellipse">
            <a:avLst/>
          </a:prstGeom>
          <a:solidFill>
            <a:srgbClr val="2E7D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3"/>
          <p:cNvSpPr/>
          <p:nvPr/>
        </p:nvSpPr>
        <p:spPr>
          <a:xfrm>
            <a:off x="822960" y="353872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3"/>
          <p:cNvSpPr/>
          <p:nvPr/>
        </p:nvSpPr>
        <p:spPr>
          <a:xfrm>
            <a:off x="1600200" y="3291840"/>
            <a:ext cx="97840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What should you do before clicking a suspicious link?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3"/>
          <p:cNvSpPr/>
          <p:nvPr/>
        </p:nvSpPr>
        <p:spPr>
          <a:xfrm>
            <a:off x="548640" y="4572000"/>
            <a:ext cx="11064240" cy="1051560"/>
          </a:xfrm>
          <a:prstGeom prst="roundRect">
            <a:avLst>
              <a:gd fmla="val 10435" name="adj"/>
            </a:avLst>
          </a:prstGeom>
          <a:solidFill>
            <a:srgbClr val="EEF3F5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3"/>
          <p:cNvSpPr/>
          <p:nvPr/>
        </p:nvSpPr>
        <p:spPr>
          <a:xfrm>
            <a:off x="822960" y="4818888"/>
            <a:ext cx="548640" cy="548640"/>
          </a:xfrm>
          <a:prstGeom prst="ellipse">
            <a:avLst/>
          </a:prstGeom>
          <a:solidFill>
            <a:srgbClr val="2E7D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3"/>
          <p:cNvSpPr/>
          <p:nvPr/>
        </p:nvSpPr>
        <p:spPr>
          <a:xfrm>
            <a:off x="822960" y="481888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3"/>
          <p:cNvSpPr/>
          <p:nvPr/>
        </p:nvSpPr>
        <p:spPr>
          <a:xfrm>
            <a:off x="1600200" y="4572000"/>
            <a:ext cx="97840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Who is a trusted adult you could ask for help?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3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3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A5F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4"/>
          <p:cNvSpPr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REMEMBER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4"/>
          <p:cNvSpPr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Stop · Think · Tell a Trusted Adult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4"/>
          <p:cNvSpPr/>
          <p:nvPr/>
        </p:nvSpPr>
        <p:spPr>
          <a:xfrm>
            <a:off x="822960" y="3291840"/>
            <a:ext cx="10515600" cy="2011680"/>
          </a:xfrm>
          <a:prstGeom prst="roundRect">
            <a:avLst>
              <a:gd fmla="val 4545" name="adj"/>
            </a:avLst>
          </a:prstGeom>
          <a:solidFill>
            <a:srgbClr val="2A4A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4"/>
          <p:cNvSpPr/>
          <p:nvPr/>
        </p:nvSpPr>
        <p:spPr>
          <a:xfrm>
            <a:off x="1188720" y="3474720"/>
            <a:ext cx="97840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Asking for help is a strength — never “getting in trouble.”</a:t>
            </a:r>
            <a:b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D8E3E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D8E3EA"/>
                </a:solidFill>
                <a:latin typeface="Calibri"/>
                <a:ea typeface="Calibri"/>
                <a:cs typeface="Calibri"/>
                <a:sym typeface="Calibri"/>
              </a:rPr>
              <a:t>My trusted adults / school reporting pathway:  ______________________________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4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4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