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Grade 8 bridge-to-high-school unit: lead peers, protect data, report clearly. Aligned to WV SB 466.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Fictional situations only. Focus on leadership, not fear or gossip.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the strongest leadership moves.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fast, easy choice online is often not the safe or ethical one.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use the matrix to find risky choices, trade-offs, safe alternatives.</a:t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write the exact steps and words.</a:t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calmly; students rewrite and rehearse.</a:t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 exit tickets.</a:t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Never ask students to reveal passwords or real accounts. Keep it general.</a:t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Everything general and fictional.</a:t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Trade-off: convenience vs. privacy. Have students justify a safer setting choice.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Model: “I won’t share my password or click a suspicious link — I’ll ask a trusted adult to help verify.”</a:t>
            </a:r>
            <a:endParaRPr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language general and age-appropriate. Fill in your school’s reporting contacts.</a:t>
            </a:r>
            <a:endParaRPr/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Surface: fear, embarrassment, not knowing who to tell.</a:t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Stop, don’t forward, keep safe, tell a trusted adult.</a:t>
            </a:r>
            <a:endParaRPr/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explain why. Most serious scenarios need all three.</a:t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pathway map. Name consequences: school, relationships, wellbeing, legal &amp; future.</a:t>
            </a:r>
            <a:endParaRPr/>
          </a:p>
        </p:txBody>
      </p:sp>
      <p:sp>
        <p:nvSpPr>
          <p:cNvPr id="290" name="Google Shape;2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Peer support is calm, non-judgmental, and connects to an adult.</a:t>
            </a:r>
            <a:endParaRPr/>
          </a:p>
        </p:txBody>
      </p:sp>
      <p:sp>
        <p:nvSpPr>
          <p:cNvPr id="320" name="Google Shape;3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naming the exact reporting pathway for your school.</a:t>
            </a:r>
            <a:endParaRPr/>
          </a:p>
        </p:txBody>
      </p:sp>
      <p:sp>
        <p:nvSpPr>
          <p:cNvPr id="331" name="Google Shape;3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GRADE 8 · DIGITAL CITIZENSHIP &amp; ONLINE SAFETY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CyberSWAT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E2E5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D3E2E5"/>
                </a:solidFill>
                <a:latin typeface="Calibri"/>
                <a:ea typeface="Calibri"/>
                <a:cs typeface="Calibri"/>
                <a:sym typeface="Calibri"/>
              </a:rPr>
              <a:t>Digital Leadership, Data Security &amp; Reporting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High-School Readiness  ·  Classroom Slides — project while you teach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82296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LESSON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mbria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Digital Leadership &amp; Ethical Decision-Making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22960" y="425196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097280" y="438912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lead peers toward safer, more responsible online decisions?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1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What Does Digital Leadership Look Like?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fmla="val 5455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2700"/>
              <a:buFont typeface="Cambria"/>
              <a:buNone/>
            </a:pPr>
            <a:r>
              <a:rPr b="0" i="1" lang="en-US" sz="27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“What does digital leadership look like in a group chat, a gaming space, or on a social platform?”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Write 60 seconds  ·  share with a partner  ·  share general ideas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A digital leader keeps a situation from getting worse and helps people get to safety.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1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The Ethical Decision Matrix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fmla="val 14118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600200" y="173736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Is it SAFE?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943600" y="173736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For me and for others?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48640" y="2633472"/>
            <a:ext cx="11064240" cy="777240"/>
          </a:xfrm>
          <a:prstGeom prst="roundRect">
            <a:avLst>
              <a:gd fmla="val 14118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600200" y="2633472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Is it RESPECTFUL?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943600" y="2633472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Would I want this said about me?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40" y="3529584"/>
            <a:ext cx="11064240" cy="777240"/>
          </a:xfrm>
          <a:prstGeom prst="roundRect">
            <a:avLst>
              <a:gd fmla="val 14118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822960" y="3639312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600200" y="3529584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Is it PRIVATE?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943600" y="3529584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Am I exposing protected information?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4425696"/>
            <a:ext cx="11064240" cy="777240"/>
          </a:xfrm>
          <a:prstGeom prst="roundRect">
            <a:avLst>
              <a:gd fmla="val 14118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22960" y="4535424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600200" y="4425696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Is it LEGAL / ALLOWED?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943600" y="4425696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Do I have the right to share this?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fmla="val 14118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22960" y="5431536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600200" y="5321808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Could it HARM — now or later?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943600" y="5321808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Including future opportunities.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If any answer is a problem — pause, refuse, or report.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SCENARIO ANALYSIS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Run It Through the Matrix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fmla="val 6000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914400" y="196596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group chat starts sharing a rumor about a classmate. People pressure everyone to forward a screenshot “so everyone sees it.” A few are laughing; one looks uncomfortable.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Which of the five checks does forwarding fail?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would a digital leader do instead — and what exactly would they say?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1 · BUILD A PROTOCOL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The Digital-Leader Response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fmla="val 13953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22960" y="189280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822960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600200" y="1783080"/>
            <a:ext cx="2377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PAUSE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840480" y="1783080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Run it through the five checks.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fmla="val 13953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822960" y="280720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822960" y="28072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600200" y="2697480"/>
            <a:ext cx="2377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SAY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3840480" y="2697480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Calm, direct: “I’m not forwarding this.”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fmla="val 13953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600200" y="3611880"/>
            <a:ext cx="2377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STEP BACK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840480" y="3611880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Stop participating; don’t argue or escalate.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fmla="val 13953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822960" y="463600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822960" y="4636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600200" y="4526280"/>
            <a:ext cx="2377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REPORT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840480" y="4526280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Tell a trusted adult; use the reporting pathway.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Two groups model theirs — the class picks what reduces harm and connects to help.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MODEL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Calm and non-escalating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822960" y="2651760"/>
            <a:ext cx="10515600" cy="2286000"/>
          </a:xfrm>
          <a:prstGeom prst="roundRect">
            <a:avLst>
              <a:gd fmla="val 4000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1280160" y="2743200"/>
            <a:ext cx="9601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am not going to forward this. It could hurt someone and make the situation worse. I’m going to stop participating and report it to a trusted adult.”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Now build your protocol and say it in your own words.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1 · EXIT TICKET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Before You Go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600200" y="20116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digital-leadership action I can take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1600200" y="329184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online action that can escalate harm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trusted adult or reporting step I can use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82296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LESSON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mbria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Privacy, Security &amp; Digital Permanence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822960" y="425196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1097280" y="438912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protect my data, accounts, and long-term digital records as I prepare for high school?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2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What Do Apps Collect About You?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fmla="val 7059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914400" y="196596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“What information might an app, website, or account collect about a user?”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48640" y="3611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BD7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822960" y="361188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Location &amp; movement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172200" y="3611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BD7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6446520" y="361188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Contacts &amp; photos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48640" y="4754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BD7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822960" y="475488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Search &amp; watch history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172200" y="4754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BD7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6446520" y="475488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Usage times &amp; habits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List general examples only — no personal account details.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2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Core Account-Safety Habits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17830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822960" y="18928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Strong, unique passwords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reused password can unlock many accounts.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6172200" y="17830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446520" y="18928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Multi-factor authentication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446520" y="23317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second step blocks most takeovers.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822960" y="3264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Review app permissions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822960" y="37033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Apps often ask for more than they need.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6172200" y="31546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446520" y="3264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Limit location sharing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446520" y="37033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Real-time location reveals where you are.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22960" y="46360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Protect account recovery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822960" y="50749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Weak recovery is a common way 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6172200" y="4526280"/>
            <a:ext cx="5349240" cy="1188720"/>
          </a:xfrm>
          <a:prstGeom prst="roundRect">
            <a:avLst>
              <a:gd fmla="val 9231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6446520" y="46360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Never share logins / verify links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446520" y="50749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Real services don’t ask by message.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2 · RISK AUDIT + PLAN · 30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Audit, Then Make Your Plan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fmla="val 2667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C6E7E"/>
                </a:solidFill>
                <a:latin typeface="Cambria"/>
                <a:ea typeface="Cambria"/>
                <a:cs typeface="Cambria"/>
                <a:sym typeface="Cambria"/>
              </a:rPr>
              <a:t>Peer Risk Audit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For each fictional profile, mark: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Security STRENGTHS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CONCERNS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Changes you RECOMMEND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fmla="val 2667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Your Digital Safety Plan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583680" y="25146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General actions only — NO real passwords: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Strong, unique passwords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Turn on MFA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Review permissions &amp; location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Avoid suspicious links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Review settings with an adult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Report account concerns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/>
          <p:nvPr/>
        </p:nvSpPr>
        <p:spPr>
          <a:xfrm>
            <a:off x="82296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mbria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Reporting, Support Resources &amp; Real-World Consequences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822960" y="425196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1097280" y="438912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respond when online behavior creates serious risk, pressure, harm, or possible illegal activity?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3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Why Not Handle It Alone?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2500"/>
              <a:buFont typeface="Cambria"/>
              <a:buNone/>
            </a:pPr>
            <a:r>
              <a:rPr b="0" i="1" lang="en-US" sz="25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“Why might a student try to handle a serious online problem alone — and why can that make things worse?”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The strongest move is to get a trusted adult involved early.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Keep responses general — no personal disclosures.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6E7E"/>
                </a:solidFill>
                <a:latin typeface="Calibri"/>
                <a:ea typeface="Calibri"/>
                <a:cs typeface="Calibri"/>
                <a:sym typeface="Calibri"/>
              </a:rPr>
              <a:t>LESSON 3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When to Report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548640" y="1783080"/>
            <a:ext cx="11064240" cy="2743200"/>
          </a:xfrm>
          <a:prstGeom prst="roundRect">
            <a:avLst>
              <a:gd fmla="val 4000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1005840" y="2011680"/>
            <a:ext cx="10149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Threats, harassment, or pressure / coercion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Impersonation or a suspicious / compromised account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Someone spreading private content — or being pushed to send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Unsafe requests, or anything that makes someone feel unsafe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Your job isn’t to investigate — it’s to get it to the right adult. Adults have resources students don’t, including national ones like the CyberTipline.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ACTIVITY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Report, Support, or Stop?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548640" y="1874520"/>
            <a:ext cx="3429000" cy="1554480"/>
          </a:xfrm>
          <a:prstGeom prst="roundRect">
            <a:avLst>
              <a:gd fmla="val 7059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73152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STOP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731520" y="26974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remove yourself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251960" y="1874520"/>
            <a:ext cx="3429000" cy="1554480"/>
          </a:xfrm>
          <a:prstGeom prst="roundRect">
            <a:avLst>
              <a:gd fmla="val 7059" name="adj"/>
            </a:avLst>
          </a:prstGeom>
          <a:solidFill>
            <a:srgbClr val="E1EFEA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443484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SUPPORT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4434840" y="26974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help the person safely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7955280" y="1874520"/>
            <a:ext cx="3429000" cy="1554480"/>
          </a:xfrm>
          <a:prstGeom prst="roundRect">
            <a:avLst>
              <a:gd fmla="val 7059" name="adj"/>
            </a:avLst>
          </a:prstGeom>
          <a:solidFill>
            <a:srgbClr val="EBF1F3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813816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6E7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6E7E"/>
                </a:solidFill>
                <a:latin typeface="Cambria"/>
                <a:ea typeface="Cambria"/>
                <a:cs typeface="Cambria"/>
                <a:sym typeface="Cambria"/>
              </a:rPr>
              <a:t>REPORT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8138160" y="26974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tell a trusted adult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3048"/>
                </a:solidFill>
                <a:latin typeface="Calibri"/>
                <a:ea typeface="Calibri"/>
                <a:cs typeface="Calibri"/>
                <a:sym typeface="Calibri"/>
              </a:rPr>
              <a:t>Sort each scenario card. A serious card usually needs all three.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Cards: forwarding chain · private-content threat · scared peer · impersonation · unsafe secret · suspicious account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REPORTING PATHWAY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Know the Route to Help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822960" y="2011680"/>
            <a:ext cx="10515600" cy="658368"/>
          </a:xfrm>
          <a:prstGeom prst="roundRect">
            <a:avLst>
              <a:gd fmla="val 11111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1051560" y="2066544"/>
            <a:ext cx="530352" cy="530352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1051560" y="206654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1828800" y="2011680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Trusted adult (teacher / staff)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822960" y="2798064"/>
            <a:ext cx="10515600" cy="658368"/>
          </a:xfrm>
          <a:prstGeom prst="roundRect">
            <a:avLst>
              <a:gd fmla="val 11111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1051560" y="2852928"/>
            <a:ext cx="530352" cy="530352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1051560" y="285292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1828800" y="2798064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Counselor / administrator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822960" y="3584448"/>
            <a:ext cx="10515600" cy="658368"/>
          </a:xfrm>
          <a:prstGeom prst="roundRect">
            <a:avLst>
              <a:gd fmla="val 11111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1051560" y="3639312"/>
            <a:ext cx="530352" cy="530352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1051560" y="363931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1828800" y="3584448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Technology contact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822960" y="4370832"/>
            <a:ext cx="10515600" cy="658368"/>
          </a:xfrm>
          <a:prstGeom prst="roundRect">
            <a:avLst>
              <a:gd fmla="val 11111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1051560" y="4425696"/>
            <a:ext cx="530352" cy="530352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1051560" y="442569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1828800" y="4370832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Family adult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822960" y="5157216"/>
            <a:ext cx="10515600" cy="658368"/>
          </a:xfrm>
          <a:prstGeom prst="roundRect">
            <a:avLst>
              <a:gd fmla="val 11111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1051560" y="5212080"/>
            <a:ext cx="530352" cy="530352"/>
          </a:xfrm>
          <a:prstGeom prst="ellipse">
            <a:avLst/>
          </a:prstGeom>
          <a:solidFill>
            <a:srgbClr val="1C6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1051560" y="52120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1828800" y="5157216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Resources adults may use (e.g., CyberTipline)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Groups fill in real names/contacts for your school.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MODEL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822960" y="2286000"/>
            <a:ext cx="10515600" cy="2286000"/>
          </a:xfrm>
          <a:prstGeom prst="roundRect">
            <a:avLst>
              <a:gd fmla="val 4000" name="adj"/>
            </a:avLst>
          </a:prstGeom>
          <a:solidFill>
            <a:srgbClr val="E1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1280160" y="2377440"/>
            <a:ext cx="9601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048"/>
              </a:buClr>
              <a:buSzPts val="2500"/>
              <a:buFont typeface="Cambria"/>
              <a:buNone/>
            </a:pPr>
            <a:r>
              <a:rPr b="1" i="1" lang="en-US" sz="2500" u="none" cap="none" strike="noStrike">
                <a:solidFill>
                  <a:srgbClr val="1E3048"/>
                </a:solidFill>
                <a:latin typeface="Cambria"/>
                <a:ea typeface="Cambria"/>
                <a:cs typeface="Cambria"/>
                <a:sym typeface="Cambria"/>
              </a:rPr>
              <a:t>“You do not have to handle this alone. Do not respond or forward anything. Let’s tell a trusted adult right now so you can get help.”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C0C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FC0C9"/>
                </a:solidFill>
                <a:latin typeface="Calibri"/>
                <a:ea typeface="Calibri"/>
                <a:cs typeface="Calibri"/>
                <a:sym typeface="Calibri"/>
              </a:rPr>
              <a:t>Exit ticket:  a situation to report · a supportive sentence · a reason not to forward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04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Lead · Protect · Report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822960" y="3291840"/>
            <a:ext cx="10515600" cy="2011680"/>
          </a:xfrm>
          <a:prstGeom prst="roundRect">
            <a:avLst>
              <a:gd fmla="val 4545" name="adj"/>
            </a:avLst>
          </a:prstGeom>
          <a:solidFill>
            <a:srgbClr val="2C4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1188720" y="3474720"/>
            <a:ext cx="9784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checks before you share. Protect your accounts. Report serious concerns early.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E8F0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F0F1"/>
                </a:solidFill>
                <a:latin typeface="Calibri"/>
                <a:ea typeface="Calibri"/>
                <a:cs typeface="Calibri"/>
                <a:sym typeface="Calibri"/>
              </a:rPr>
              <a:t>My trusted adults / school reporting pathway:  ______________________________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