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" Type="http://schemas.openxmlformats.org/officeDocument/2006/relationships/presProps" Target="presProps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2" Type="http://schemas.openxmlformats.org/officeDocument/2006/relationships/printerSettings" Target="printerSettings/printerSettings1.bin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5" Type="http://schemas.openxmlformats.org/officeDocument/2006/relationships/theme" Target="theme/theme1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customXml" Target="../customXml/item2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viewProps" Target="viewProps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customXml" Target="../customXml/item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3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8FC0C9"/>
                </a:solidFill>
                <a:latin typeface="Calibri"/>
              </a:rPr>
              <a:t>GRADE 9 · DIGITAL CITIZENSHIP &amp; ONLINE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28600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400" b="1">
                <a:solidFill>
                  <a:srgbClr val="FFFFFF"/>
                </a:solidFill>
                <a:latin typeface="Cambria"/>
              </a:rPr>
              <a:t>CyberSWAT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49040"/>
            <a:ext cx="10515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300" b="0">
                <a:solidFill>
                  <a:srgbClr val="D3E2E5"/>
                </a:solidFill>
                <a:latin typeface="Calibri"/>
              </a:rPr>
              <a:t>Digital Footprint, Advanced Threats &amp; Personal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29200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B7791F"/>
                </a:solidFill>
                <a:latin typeface="Calibri"/>
              </a:rPr>
              <a:t>High-School Foundations  ·  Classroom Slides — project while you teach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CyberSWAT · Grade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3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600200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B7791F"/>
                </a:solidFill>
                <a:latin typeface="Calibri"/>
              </a:rPr>
              <a:t>LESSON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5740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Your Digital Footprint &amp; Real-World Reputation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515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8FC0C9"/>
                </a:solidFill>
                <a:latin typeface="Calibri"/>
              </a:rPr>
              <a:t>Essential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2628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0">
                <a:solidFill>
                  <a:srgbClr val="D3E2E5"/>
                </a:solidFill>
                <a:latin typeface="Calibri"/>
              </a:rPr>
              <a:t>How do the digital traces I leave shape real opportunities — and how do I manage them on purpose?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CyberSWAT · Grade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C6E7E"/>
                </a:solidFill>
                <a:latin typeface="Calibri"/>
              </a:rPr>
              <a:t>LESSON 1 · OPENING · 5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>
                <a:solidFill>
                  <a:srgbClr val="1E3048"/>
                </a:solidFill>
                <a:latin typeface="Cambria"/>
              </a:rPr>
              <a:t>If Someone Searched Your Name Today…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1064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>
                <a:solidFill>
                  <a:srgbClr val="1E3048"/>
                </a:solidFill>
                <a:latin typeface="Calibri"/>
              </a:rPr>
              <a:t>“A coach, an admissions officer, a future boss — what would they find, and what would you want them to find?”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23160"/>
            <a:ext cx="11064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222B33"/>
                </a:solidFill>
                <a:latin typeface="Calibri"/>
              </a:rPr>
              <a:t>Write 60 seconds  ·  share with a partner  ·  chart the 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4A4A4A"/>
                </a:solidFill>
                <a:latin typeface="Calibri"/>
              </a:rPr>
              <a:t>Your footprint is already telling your story. Grade 9 is where you write it on purpose.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CyberSWAT · Grade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C6E7E"/>
                </a:solidFill>
                <a:latin typeface="Calibri"/>
              </a:rPr>
              <a:t>LESSON 1 · MINI-LESSON · 10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>
                <a:solidFill>
                  <a:srgbClr val="1E3048"/>
                </a:solidFill>
                <a:latin typeface="Cambria"/>
              </a:rPr>
              <a:t>The Footprint Impact Analysis — 5 P’s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37360"/>
            <a:ext cx="11064240" cy="777240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847088"/>
            <a:ext cx="548640" cy="548640"/>
          </a:xfrm>
          <a:prstGeom prst="rect">
            <a:avLst/>
          </a:prstGeom>
          <a:solidFill>
            <a:srgbClr val="1C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4708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737360"/>
            <a:ext cx="356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3048"/>
                </a:solidFill>
                <a:latin typeface="Cambria"/>
              </a:rPr>
              <a:t>PERMANENT?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0000" y="1737360"/>
            <a:ext cx="603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222B33"/>
                </a:solidFill>
                <a:latin typeface="Calibri"/>
              </a:rPr>
              <a:t>Could this outlast the moment — screenshots, copies, archives?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33472"/>
            <a:ext cx="11064240" cy="777240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743200"/>
            <a:ext cx="548640" cy="548640"/>
          </a:xfrm>
          <a:prstGeom prst="rect">
            <a:avLst/>
          </a:prstGeom>
          <a:solidFill>
            <a:srgbClr val="1C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74320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633472"/>
            <a:ext cx="356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3048"/>
                </a:solidFill>
                <a:latin typeface="Cambria"/>
              </a:rPr>
              <a:t>PUBLIC / SEARCHABLE?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0000" y="2633472"/>
            <a:ext cx="603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222B33"/>
                </a:solidFill>
                <a:latin typeface="Calibri"/>
              </a:rPr>
              <a:t>Could a stranger or search engine connect this to me?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529584"/>
            <a:ext cx="11064240" cy="777240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639312"/>
            <a:ext cx="548640" cy="548640"/>
          </a:xfrm>
          <a:prstGeom prst="rect">
            <a:avLst/>
          </a:prstGeom>
          <a:solidFill>
            <a:srgbClr val="1C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639312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529584"/>
            <a:ext cx="356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3048"/>
                </a:solidFill>
                <a:latin typeface="Cambria"/>
              </a:rPr>
              <a:t>PROFESSIONAL?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0000" y="3529584"/>
            <a:ext cx="603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222B33"/>
                </a:solidFill>
                <a:latin typeface="Calibri"/>
              </a:rPr>
              <a:t>Would my future audience — admissions, jobs, coaches — respect it?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425696"/>
            <a:ext cx="11064240" cy="777240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4535424"/>
            <a:ext cx="548640" cy="548640"/>
          </a:xfrm>
          <a:prstGeom prst="rect">
            <a:avLst/>
          </a:prstGeom>
          <a:solidFill>
            <a:srgbClr val="1C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53542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4425696"/>
            <a:ext cx="356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3048"/>
                </a:solidFill>
                <a:latin typeface="Cambria"/>
              </a:rPr>
              <a:t>PRIVACY &amp; CONSENT?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0000" y="4425696"/>
            <a:ext cx="603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222B33"/>
                </a:solidFill>
                <a:latin typeface="Calibri"/>
              </a:rPr>
              <a:t>Am I exposing someone, or posting them without permission?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321808"/>
            <a:ext cx="11064240" cy="777240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" y="5431536"/>
            <a:ext cx="548640" cy="548640"/>
          </a:xfrm>
          <a:prstGeom prst="rect">
            <a:avLst/>
          </a:prstGeom>
          <a:solidFill>
            <a:srgbClr val="1C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431536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5321808"/>
            <a:ext cx="356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3048"/>
                </a:solidFill>
                <a:latin typeface="Cambria"/>
              </a:rPr>
              <a:t>PRESSURE?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0000" y="5321808"/>
            <a:ext cx="603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222B33"/>
                </a:solidFill>
                <a:latin typeface="Calibri"/>
              </a:rPr>
              <a:t>Am I being pushed to post this — and is that a red flag?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4A4A4A"/>
                </a:solidFill>
                <a:latin typeface="Calibri"/>
              </a:rPr>
              <a:t>If any one is a problem — pause, adjust, or don’t post.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CyberSWAT · Grade 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C6E7E"/>
                </a:solidFill>
                <a:latin typeface="Calibri"/>
              </a:rPr>
              <a:t>LESSON 1 · SCENARIO ANALYSIS · 15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>
                <a:solidFill>
                  <a:srgbClr val="1E3048"/>
                </a:solidFill>
                <a:latin typeface="Cambria"/>
              </a:rPr>
              <a:t>Run It Through the 5 P’s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1064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>
                <a:solidFill>
                  <a:srgbClr val="1E3048"/>
                </a:solidFill>
                <a:latin typeface="Calibri"/>
              </a:rPr>
              <a:t>Old posts and tagged photos resurface right as a student applies for a scholarship and a team.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23160"/>
            <a:ext cx="11064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0">
                <a:solidFill>
                  <a:srgbClr val="222B33"/>
                </a:solidFill>
                <a:latin typeface="Calibri"/>
              </a:rPr>
              <a:t>Which of the five P’s does it fail?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63240"/>
            <a:ext cx="11064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0">
                <a:solidFill>
                  <a:srgbClr val="222B33"/>
                </a:solidFill>
                <a:latin typeface="Calibri"/>
              </a:rPr>
              <a:t>What real opportunity could it affect — and what would you do instead?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CyberSWAT · Grade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C6E7E"/>
                </a:solidFill>
                <a:latin typeface="Calibri"/>
              </a:rPr>
              <a:t>LESSON 1 · BUILD A PLAN · 15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>
                <a:solidFill>
                  <a:srgbClr val="1E3048"/>
                </a:solidFill>
                <a:latin typeface="Cambria"/>
              </a:rPr>
              <a:t>Your Footprint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37360"/>
            <a:ext cx="11064240" cy="786384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847088"/>
            <a:ext cx="548640" cy="548640"/>
          </a:xfrm>
          <a:prstGeom prst="rect">
            <a:avLst/>
          </a:prstGeom>
          <a:solidFill>
            <a:srgbClr val="1C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4708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737360"/>
            <a:ext cx="35600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3048"/>
                </a:solidFill>
                <a:latin typeface="Cambria"/>
              </a:rPr>
              <a:t>CLEAN 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0000" y="1737360"/>
            <a:ext cx="60300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222B33"/>
                </a:solidFill>
                <a:latin typeface="Calibri"/>
              </a:rPr>
              <a:t>Remove or untag what you control.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51760"/>
            <a:ext cx="11064240" cy="786384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761488"/>
            <a:ext cx="548640" cy="548640"/>
          </a:xfrm>
          <a:prstGeom prst="rect">
            <a:avLst/>
          </a:prstGeom>
          <a:solidFill>
            <a:srgbClr val="1C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76148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651760"/>
            <a:ext cx="35600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3048"/>
                </a:solidFill>
                <a:latin typeface="Cambria"/>
              </a:rPr>
              <a:t>LOCK DOWN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0000" y="2651760"/>
            <a:ext cx="60300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222B33"/>
                </a:solidFill>
                <a:latin typeface="Calibri"/>
              </a:rPr>
              <a:t>Tighten privacy and account settings.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566160"/>
            <a:ext cx="11064240" cy="786384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675888"/>
            <a:ext cx="548640" cy="548640"/>
          </a:xfrm>
          <a:prstGeom prst="rect">
            <a:avLst/>
          </a:prstGeom>
          <a:solidFill>
            <a:srgbClr val="1C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67588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566160"/>
            <a:ext cx="35600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3048"/>
                </a:solidFill>
                <a:latin typeface="Cambria"/>
              </a:rPr>
              <a:t>POST ON PURPOSE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0000" y="3566160"/>
            <a:ext cx="60300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222B33"/>
                </a:solidFill>
                <a:latin typeface="Calibri"/>
              </a:rPr>
              <a:t>Build a footprint that shows who you are now.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480560"/>
            <a:ext cx="11064240" cy="786384"/>
          </a:xfrm>
          <a:prstGeom prst="rect">
            <a:avLst/>
          </a:prstGeom>
          <a:solidFill>
            <a:srgbClr val="F4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4590288"/>
            <a:ext cx="548640" cy="548640"/>
          </a:xfrm>
          <a:prstGeom prst="rect">
            <a:avLst/>
          </a:prstGeom>
          <a:solidFill>
            <a:srgbClr val="1C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59028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4480560"/>
            <a:ext cx="35600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3048"/>
                </a:solidFill>
                <a:latin typeface="Cambria"/>
              </a:rPr>
              <a:t>ASK FOR HELP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0000" y="4480560"/>
            <a:ext cx="60300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222B33"/>
                </a:solidFill>
                <a:latin typeface="Calibri"/>
              </a:rPr>
              <a:t>A trusted adult for what you can’t fix alone.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4A4A4A"/>
                </a:solidFill>
                <a:latin typeface="Calibri"/>
              </a:rPr>
              <a:t>Two groups model theirs — the class picks the strongest reputation move.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CyberSWAT · Grade 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C6E7E"/>
                </a:solidFill>
                <a:latin typeface="Calibri"/>
              </a:rPr>
              <a:t>LESSON 1 · MODEL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>
                <a:solidFill>
                  <a:srgbClr val="1E3048"/>
                </a:solidFill>
                <a:latin typeface="Cambria"/>
              </a:rPr>
              <a:t>Helping a Peer — Calm and Smart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83080"/>
            <a:ext cx="11064240" cy="1828800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51560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1E3048"/>
                </a:solidFill>
                <a:latin typeface="Cambria"/>
              </a:rPr>
              <a:t>“Let’s not pile on or fire back. Screenshot it, don’t reshare it, and let’s take it to a trusted adult who can help report it and get it taken down.”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CyberSWAT · Grade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C6E7E"/>
                </a:solidFill>
                <a:latin typeface="Calibri"/>
              </a:rPr>
              <a:t>LESSON 1 · EXIT TICKET · 5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>
                <a:solidFill>
                  <a:srgbClr val="1E3048"/>
                </a:solidFill>
                <a:latin typeface="Cambria"/>
              </a:rPr>
              <a:t>Before You Go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83080"/>
            <a:ext cx="11064240" cy="777240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897380"/>
            <a:ext cx="548640" cy="548640"/>
          </a:xfrm>
          <a:prstGeom prst="rect">
            <a:avLst/>
          </a:prstGeom>
          <a:solidFill>
            <a:srgbClr val="1C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9738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783080"/>
            <a:ext cx="960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0">
                <a:solidFill>
                  <a:srgbClr val="222B33"/>
                </a:solidFill>
                <a:latin typeface="Calibri"/>
              </a:rPr>
              <a:t>One thing I want a future audience to find is…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679192"/>
            <a:ext cx="11064240" cy="777240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793492"/>
            <a:ext cx="548640" cy="548640"/>
          </a:xfrm>
          <a:prstGeom prst="rect">
            <a:avLst/>
          </a:prstGeom>
          <a:solidFill>
            <a:srgbClr val="1C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793492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679192"/>
            <a:ext cx="960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0">
                <a:solidFill>
                  <a:srgbClr val="222B33"/>
                </a:solidFill>
                <a:latin typeface="Calibri"/>
              </a:rPr>
              <a:t>One footprint risk I can fix or lock down is…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575304"/>
            <a:ext cx="11064240" cy="777240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3689604"/>
            <a:ext cx="548640" cy="548640"/>
          </a:xfrm>
          <a:prstGeom prst="rect">
            <a:avLst/>
          </a:prstGeom>
          <a:solidFill>
            <a:srgbClr val="1C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68960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575304"/>
            <a:ext cx="960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0">
                <a:solidFill>
                  <a:srgbClr val="222B33"/>
                </a:solidFill>
                <a:latin typeface="Calibri"/>
              </a:rPr>
              <a:t>One trusted adult or help step I can use is…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CyberSWAT · Grade 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3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600200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B7791F"/>
                </a:solidFill>
                <a:latin typeface="Calibri"/>
              </a:rPr>
              <a:t>LESSON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5740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Social Engineering, Scams &amp; AI-Era Threats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515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8FC0C9"/>
                </a:solidFill>
                <a:latin typeface="Calibri"/>
              </a:rPr>
              <a:t>Essential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2628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0">
                <a:solidFill>
                  <a:srgbClr val="D3E2E5"/>
                </a:solidFill>
                <a:latin typeface="Calibri"/>
              </a:rPr>
              <a:t>How do I recognize and shut down manipulation, scams, and fake content built to fool me?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CyberSWAT · Grade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C6E7E"/>
                </a:solidFill>
                <a:latin typeface="Calibri"/>
              </a:rPr>
              <a:t>LESSON 2 · OPENING · 5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>
                <a:solidFill>
                  <a:srgbClr val="1E3048"/>
                </a:solidFill>
                <a:latin typeface="Cambria"/>
              </a:rPr>
              <a:t>Why Do Smart People Fall for Scams?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1064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>
                <a:solidFill>
                  <a:srgbClr val="1E3048"/>
                </a:solidFill>
                <a:latin typeface="Calibri"/>
              </a:rPr>
              <a:t>“Why do even adults still fall for fake messages and scams?”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23160"/>
            <a:ext cx="11064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222B33"/>
                </a:solidFill>
                <a:latin typeface="Calibri"/>
              </a:rPr>
              <a:t>It looked real  ·  it felt urgent  ·  it came from a ‘friend’  ·  they were rushed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4A4A4A"/>
                </a:solidFill>
                <a:latin typeface="Calibri"/>
              </a:rPr>
              <a:t>Almost every attack targets a person, not a computer. Know the tactics, and you see it coming.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CyberSWAT · Grade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C6E7E"/>
                </a:solidFill>
                <a:latin typeface="Calibri"/>
              </a:rPr>
              <a:t>LESSON 2 · MINI-LESSON · 10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>
                <a:solidFill>
                  <a:srgbClr val="1E3048"/>
                </a:solidFill>
                <a:latin typeface="Cambria"/>
              </a:rPr>
              <a:t>How Manipulation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37360"/>
            <a:ext cx="11064240" cy="777240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847088"/>
            <a:ext cx="548640" cy="548640"/>
          </a:xfrm>
          <a:prstGeom prst="rect">
            <a:avLst/>
          </a:prstGeom>
          <a:solidFill>
            <a:srgbClr val="1C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4708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737360"/>
            <a:ext cx="356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3048"/>
                </a:solidFill>
                <a:latin typeface="Cambria"/>
              </a:rPr>
              <a:t>URGENCY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0000" y="1737360"/>
            <a:ext cx="603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222B33"/>
                </a:solidFill>
                <a:latin typeface="Calibri"/>
              </a:rPr>
              <a:t>“Act now or your account is locked / you’ll miss out.”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33472"/>
            <a:ext cx="11064240" cy="777240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743200"/>
            <a:ext cx="548640" cy="548640"/>
          </a:xfrm>
          <a:prstGeom prst="rect">
            <a:avLst/>
          </a:prstGeom>
          <a:solidFill>
            <a:srgbClr val="1C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74320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633472"/>
            <a:ext cx="356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3048"/>
                </a:solidFill>
                <a:latin typeface="Cambria"/>
              </a:rPr>
              <a:t>AUTHORITY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0000" y="2633472"/>
            <a:ext cx="603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222B33"/>
                </a:solidFill>
                <a:latin typeface="Calibri"/>
              </a:rPr>
              <a:t>“This is IT / security / an official — do what I say.”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529584"/>
            <a:ext cx="11064240" cy="777240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639312"/>
            <a:ext cx="548640" cy="548640"/>
          </a:xfrm>
          <a:prstGeom prst="rect">
            <a:avLst/>
          </a:prstGeom>
          <a:solidFill>
            <a:srgbClr val="1C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639312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529584"/>
            <a:ext cx="356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3048"/>
                </a:solidFill>
                <a:latin typeface="Cambria"/>
              </a:rPr>
              <a:t>FEAR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0000" y="3529584"/>
            <a:ext cx="603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222B33"/>
                </a:solidFill>
                <a:latin typeface="Calibri"/>
              </a:rPr>
              <a:t>“Something bad will happen unless you respond.”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425696"/>
            <a:ext cx="11064240" cy="777240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4535424"/>
            <a:ext cx="548640" cy="548640"/>
          </a:xfrm>
          <a:prstGeom prst="rect">
            <a:avLst/>
          </a:prstGeom>
          <a:solidFill>
            <a:srgbClr val="1C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53542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4425696"/>
            <a:ext cx="356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3048"/>
                </a:solidFill>
                <a:latin typeface="Cambria"/>
              </a:rPr>
              <a:t>REWARD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0000" y="4425696"/>
            <a:ext cx="603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222B33"/>
                </a:solidFill>
                <a:latin typeface="Calibri"/>
              </a:rPr>
              <a:t>“You won! Just confirm your info or send a fee.”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321808"/>
            <a:ext cx="11064240" cy="777240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" y="5431536"/>
            <a:ext cx="548640" cy="548640"/>
          </a:xfrm>
          <a:prstGeom prst="rect">
            <a:avLst/>
          </a:prstGeom>
          <a:solidFill>
            <a:srgbClr val="1C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431536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5321808"/>
            <a:ext cx="356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3048"/>
                </a:solidFill>
                <a:latin typeface="Cambria"/>
              </a:rPr>
              <a:t>FAMILIARITY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0000" y="5321808"/>
            <a:ext cx="603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222B33"/>
                </a:solidFill>
                <a:latin typeface="Calibri"/>
              </a:rPr>
              <a:t>“It’s me — your friend / a brand you trust.”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4A4A4A"/>
                </a:solidFill>
                <a:latin typeface="Calibri"/>
              </a:rPr>
              <a:t>The defense is one habit: STOP · VERIFY · ACT.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CyberSWAT · Grade 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C6E7E"/>
                </a:solidFill>
                <a:latin typeface="Calibri"/>
              </a:rPr>
              <a:t>LESSON 2 · VERIFY + PLAYBOOK · 30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>
                <a:solidFill>
                  <a:srgbClr val="1E3048"/>
                </a:solidFill>
                <a:latin typeface="Cambria"/>
              </a:rPr>
              <a:t>Verify, Then Lock It Down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83080"/>
            <a:ext cx="5380000" cy="3400000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00000"/>
            <a:ext cx="4900000" cy="4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1E3048"/>
                </a:solidFill>
                <a:latin typeface="Cambria"/>
              </a:rPr>
              <a:t>STOP · VERIFY · 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60000"/>
            <a:ext cx="4900000" cy="4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>
                <a:solidFill>
                  <a:srgbClr val="222B33"/>
                </a:solidFill>
                <a:latin typeface="Calibri"/>
              </a:rPr>
              <a:t> •  Stop before you tap or send.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30000"/>
            <a:ext cx="4900000" cy="4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>
                <a:solidFill>
                  <a:srgbClr val="222B33"/>
                </a:solidFill>
                <a:latin typeface="Calibri"/>
              </a:rPr>
              <a:t> •  Verify on a second trusted channel.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00000"/>
            <a:ext cx="4900000" cy="4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>
                <a:solidFill>
                  <a:srgbClr val="222B33"/>
                </a:solidFill>
                <a:latin typeface="Calibri"/>
              </a:rPr>
              <a:t> •  Never approve a login you didn’t start.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70000"/>
            <a:ext cx="4900000" cy="4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>
                <a:solidFill>
                  <a:srgbClr val="222B33"/>
                </a:solidFill>
                <a:latin typeface="Calibri"/>
              </a:rPr>
              <a:t> •  Never share a code or password.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240000"/>
            <a:ext cx="4900000" cy="4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>
                <a:solidFill>
                  <a:srgbClr val="222B33"/>
                </a:solidFill>
                <a:latin typeface="Calibri"/>
              </a:rPr>
              <a:t> •  Spot AI fakes: odd hands, mismatched audio, brand-new accounts.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0000" y="1783080"/>
            <a:ext cx="5380000" cy="3400000"/>
          </a:xfrm>
          <a:prstGeom prst="rect">
            <a:avLst/>
          </a:prstGeom>
          <a:solidFill>
            <a:srgbClr val="F4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0000" y="1900000"/>
            <a:ext cx="4900000" cy="4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1E3048"/>
                </a:solidFill>
                <a:latin typeface="Cambria"/>
              </a:rPr>
              <a:t>Your Security Playbook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0000" y="2360000"/>
            <a:ext cx="4900000" cy="4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>
                <a:solidFill>
                  <a:srgbClr val="222B33"/>
                </a:solidFill>
                <a:latin typeface="Calibri"/>
              </a:rPr>
              <a:t> •  Long, unique passwords — never reused.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0000" y="2800000"/>
            <a:ext cx="4900000" cy="4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>
                <a:solidFill>
                  <a:srgbClr val="222B33"/>
                </a:solidFill>
                <a:latin typeface="Calibri"/>
              </a:rPr>
              <a:t> •  MFA on for important accounts.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0000" y="3240000"/>
            <a:ext cx="4900000" cy="4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>
                <a:solidFill>
                  <a:srgbClr val="222B33"/>
                </a:solidFill>
                <a:latin typeface="Calibri"/>
              </a:rPr>
              <a:t> •  Verify before you act.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0000" y="3680000"/>
            <a:ext cx="4900000" cy="4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>
                <a:solidFill>
                  <a:srgbClr val="222B33"/>
                </a:solidFill>
                <a:latin typeface="Calibri"/>
              </a:rPr>
              <a:t> •  Protect account recovery.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0000" y="4120000"/>
            <a:ext cx="4900000" cy="4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>
                <a:solidFill>
                  <a:srgbClr val="222B33"/>
                </a:solidFill>
                <a:latin typeface="Calibri"/>
              </a:rPr>
              <a:t> •  Only pay on secure, verified sites.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40000" y="4560000"/>
            <a:ext cx="4900000" cy="4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>
                <a:solidFill>
                  <a:srgbClr val="222B33"/>
                </a:solidFill>
                <a:latin typeface="Calibri"/>
              </a:rPr>
              <a:t> •  Report a scam or compromised account.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330000"/>
            <a:ext cx="11064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4A4A4A"/>
                </a:solidFill>
                <a:latin typeface="Calibri"/>
              </a:rPr>
              <a:t>General actions only — never write real passwords.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CyberSWAT · Grade 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C6E7E"/>
                </a:solidFill>
                <a:latin typeface="Calibri"/>
              </a:rPr>
              <a:t>LESSON 2 · EXIT TICKET · 5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>
                <a:solidFill>
                  <a:srgbClr val="1E3048"/>
                </a:solidFill>
                <a:latin typeface="Cambria"/>
              </a:rPr>
              <a:t>Before You Go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83080"/>
            <a:ext cx="11064240" cy="777240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897380"/>
            <a:ext cx="548640" cy="548640"/>
          </a:xfrm>
          <a:prstGeom prst="rect">
            <a:avLst/>
          </a:prstGeom>
          <a:solidFill>
            <a:srgbClr val="1C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9738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783080"/>
            <a:ext cx="960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0">
                <a:solidFill>
                  <a:srgbClr val="222B33"/>
                </a:solidFill>
                <a:latin typeface="Calibri"/>
              </a:rPr>
              <a:t>One social-engineering tactic I can now spot is…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679192"/>
            <a:ext cx="11064240" cy="777240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793492"/>
            <a:ext cx="548640" cy="548640"/>
          </a:xfrm>
          <a:prstGeom prst="rect">
            <a:avLst/>
          </a:prstGeom>
          <a:solidFill>
            <a:srgbClr val="1C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793492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679192"/>
            <a:ext cx="960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0">
                <a:solidFill>
                  <a:srgbClr val="222B33"/>
                </a:solidFill>
                <a:latin typeface="Calibri"/>
              </a:rPr>
              <a:t>One personal-security habit I will use is…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575304"/>
            <a:ext cx="11064240" cy="777240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3689604"/>
            <a:ext cx="548640" cy="548640"/>
          </a:xfrm>
          <a:prstGeom prst="rect">
            <a:avLst/>
          </a:prstGeom>
          <a:solidFill>
            <a:srgbClr val="1C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68960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575304"/>
            <a:ext cx="960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0">
                <a:solidFill>
                  <a:srgbClr val="222B33"/>
                </a:solidFill>
                <a:latin typeface="Calibri"/>
              </a:rPr>
              <a:t>One way I can check if a message or image is fake is…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CyberSWAT · Grade 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3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600200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B7791F"/>
                </a:solidFill>
                <a:latin typeface="Calibri"/>
              </a:rPr>
              <a:t>LESSON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5740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Digital Rights, Serious Harm &amp; Responsible Response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515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8FC0C9"/>
                </a:solidFill>
                <a:latin typeface="Calibri"/>
              </a:rPr>
              <a:t>Essential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2628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0">
                <a:solidFill>
                  <a:srgbClr val="D3E2E5"/>
                </a:solidFill>
                <a:latin typeface="Calibri"/>
              </a:rPr>
              <a:t>How do I respond to serious online harm using my rights, the right people, and the right resources?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CyberSWAT · Grade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C6E7E"/>
                </a:solidFill>
                <a:latin typeface="Calibri"/>
              </a:rPr>
              <a:t>LESSON 3 · OPENING · 5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>
                <a:solidFill>
                  <a:srgbClr val="1E3048"/>
                </a:solidFill>
                <a:latin typeface="Cambria"/>
              </a:rPr>
              <a:t>Why Not Handle It Alone?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1064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>
                <a:solidFill>
                  <a:srgbClr val="1E3048"/>
                </a:solidFill>
                <a:latin typeface="Calibri"/>
              </a:rPr>
              <a:t>“Why is deleting it, arguing, or paying usually the wrong move when it gets serious?”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23160"/>
            <a:ext cx="11064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222B33"/>
                </a:solidFill>
                <a:latin typeface="Calibri"/>
              </a:rPr>
              <a:t>It can destroy evidence, escalate the threat, or make you a target.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4A4A4A"/>
                </a:solidFill>
                <a:latin typeface="Calibri"/>
              </a:rPr>
              <a:t>Preserve what happened and get a trusted adult involved early.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CyberSWAT · Grade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C6E7E"/>
                </a:solidFill>
                <a:latin typeface="Calibri"/>
              </a:rPr>
              <a:t>LESSON 3 · MINI-LESSON · 10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>
                <a:solidFill>
                  <a:srgbClr val="1E3048"/>
                </a:solidFill>
                <a:latin typeface="Cambria"/>
              </a:rPr>
              <a:t>When It’s Serious — Always Get an Adult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83080"/>
            <a:ext cx="11064240" cy="777240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897380"/>
            <a:ext cx="548640" cy="548640"/>
          </a:xfrm>
          <a:prstGeom prst="rect">
            <a:avLst/>
          </a:prstGeom>
          <a:solidFill>
            <a:srgbClr val="1C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9738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783080"/>
            <a:ext cx="960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0">
                <a:solidFill>
                  <a:srgbClr val="222B33"/>
                </a:solidFill>
                <a:latin typeface="Calibri"/>
              </a:rPr>
              <a:t>Threats, harassment, stalking, or coercion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646464"/>
            <a:ext cx="11064240" cy="777240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760764"/>
            <a:ext cx="548640" cy="548640"/>
          </a:xfrm>
          <a:prstGeom prst="rect">
            <a:avLst/>
          </a:prstGeom>
          <a:solidFill>
            <a:srgbClr val="1C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76076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646464"/>
            <a:ext cx="960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0">
                <a:solidFill>
                  <a:srgbClr val="222B33"/>
                </a:solidFill>
                <a:latin typeface="Calibri"/>
              </a:rPr>
              <a:t>Sextortion — pressure or threats to expose private content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509848"/>
            <a:ext cx="11064240" cy="777240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3624148"/>
            <a:ext cx="548640" cy="548640"/>
          </a:xfrm>
          <a:prstGeom prst="rect">
            <a:avLst/>
          </a:prstGeom>
          <a:solidFill>
            <a:srgbClr val="1C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62414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509848"/>
            <a:ext cx="960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0">
                <a:solidFill>
                  <a:srgbClr val="222B33"/>
                </a:solidFill>
                <a:latin typeface="Calibri"/>
              </a:rPr>
              <a:t>Non-consensual sharing, or being pushed to send private content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373232"/>
            <a:ext cx="11064240" cy="777240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4487532"/>
            <a:ext cx="548640" cy="548640"/>
          </a:xfrm>
          <a:prstGeom prst="rect">
            <a:avLst/>
          </a:prstGeom>
          <a:solidFill>
            <a:srgbClr val="1C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487532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4373232"/>
            <a:ext cx="960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0">
                <a:solidFill>
                  <a:srgbClr val="222B33"/>
                </a:solidFill>
                <a:latin typeface="Calibri"/>
              </a:rPr>
              <a:t>Impersonation, deepfakes, or a hacked account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236616"/>
            <a:ext cx="11064240" cy="777240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" y="5350916"/>
            <a:ext cx="548640" cy="548640"/>
          </a:xfrm>
          <a:prstGeom prst="rect">
            <a:avLst/>
          </a:prstGeom>
          <a:solidFill>
            <a:srgbClr val="1C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350916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5236616"/>
            <a:ext cx="960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0">
                <a:solidFill>
                  <a:srgbClr val="222B33"/>
                </a:solidFill>
                <a:latin typeface="Calibri"/>
              </a:rPr>
              <a:t>Anything that makes someone feel unsafe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4A4A4A"/>
                </a:solidFill>
                <a:latin typeface="Calibri"/>
              </a:rPr>
              <a:t>You’re not in trouble for asking for help. Preserve evidence; adults have resources like the CyberTipline and Take It Down.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CyberSWAT · Grade 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C6E7E"/>
                </a:solidFill>
                <a:latin typeface="Calibri"/>
              </a:rPr>
              <a:t>LESSON 3 · ACTIVITY · 15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>
                <a:solidFill>
                  <a:srgbClr val="1E3048"/>
                </a:solidFill>
                <a:latin typeface="Cambria"/>
              </a:rPr>
              <a:t>Report, Support, Preserve, or Stop?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900000"/>
            <a:ext cx="2600000" cy="1500000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50000"/>
            <a:ext cx="2600000" cy="5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E3048"/>
                </a:solidFill>
                <a:latin typeface="Cambria"/>
              </a:rPr>
              <a:t>STOP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0000"/>
            <a:ext cx="2600000" cy="7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50" b="0">
                <a:solidFill>
                  <a:srgbClr val="222B33"/>
                </a:solidFill>
                <a:latin typeface="Calibri"/>
              </a:rPr>
              <a:t>remove yourself</a:t>
            </a:r>
          </a:p>
        </p:txBody>
      </p:sp>
      <p:sp>
        <p:nvSpPr>
          <p:cNvPr id="7" name="Rectangle 6"/>
          <p:cNvSpPr/>
          <p:nvPr/>
        </p:nvSpPr>
        <p:spPr>
          <a:xfrm>
            <a:off x="3328640" y="1900000"/>
            <a:ext cx="2600000" cy="1500000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28640" y="2050000"/>
            <a:ext cx="2600000" cy="5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E3048"/>
                </a:solidFill>
                <a:latin typeface="Cambria"/>
              </a:rPr>
              <a:t>SUPPORT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28640" y="2560000"/>
            <a:ext cx="2600000" cy="7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50" b="0">
                <a:solidFill>
                  <a:srgbClr val="222B33"/>
                </a:solidFill>
                <a:latin typeface="Calibri"/>
              </a:rPr>
              <a:t>help the person safely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08640" y="1900000"/>
            <a:ext cx="2600000" cy="1500000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08640" y="2050000"/>
            <a:ext cx="2600000" cy="5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E3048"/>
                </a:solidFill>
                <a:latin typeface="Cambria"/>
              </a:rPr>
              <a:t>PRESERVE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08640" y="2560000"/>
            <a:ext cx="2600000" cy="7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50" b="0">
                <a:solidFill>
                  <a:srgbClr val="222B33"/>
                </a:solidFill>
                <a:latin typeface="Calibri"/>
              </a:rPr>
              <a:t>save the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88640" y="1900000"/>
            <a:ext cx="2600000" cy="1500000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88640" y="2050000"/>
            <a:ext cx="2600000" cy="5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E3048"/>
                </a:solidFill>
                <a:latin typeface="Cambria"/>
              </a:rPr>
              <a:t>REPORT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88640" y="2560000"/>
            <a:ext cx="2600000" cy="7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50" b="0">
                <a:solidFill>
                  <a:srgbClr val="222B33"/>
                </a:solidFill>
                <a:latin typeface="Calibri"/>
              </a:rPr>
              <a:t>tell a trusted adult + 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650000"/>
            <a:ext cx="11064240" cy="5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Calibri"/>
              </a:rPr>
              <a:t>Sort each scenario card. A serious card usually needs all four — and never pay or comply.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300000"/>
            <a:ext cx="11064240" cy="9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4A4A4A"/>
                </a:solidFill>
                <a:latin typeface="Calibri"/>
              </a:rPr>
              <a:t>Cards: forwarding chain · coercion threat · deepfake reshare · scared peer · impersonation · unsafe secret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CyberSWAT · Grade 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C6E7E"/>
                </a:solidFill>
                <a:latin typeface="Calibri"/>
              </a:rPr>
              <a:t>LESSON 3 · REPORTING PATHWAY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>
                <a:solidFill>
                  <a:srgbClr val="1E3048"/>
                </a:solidFill>
                <a:latin typeface="Cambria"/>
              </a:rPr>
              <a:t>Know the Layered Route to Help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83080"/>
            <a:ext cx="11064240" cy="659486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838503"/>
            <a:ext cx="548640" cy="548640"/>
          </a:xfrm>
          <a:prstGeom prst="rect">
            <a:avLst/>
          </a:prstGeom>
          <a:solidFill>
            <a:srgbClr val="1C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38503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783080"/>
            <a:ext cx="9600000" cy="65948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0">
                <a:solidFill>
                  <a:srgbClr val="222B33"/>
                </a:solidFill>
                <a:latin typeface="Calibri"/>
              </a:rPr>
              <a:t>Trusted adult (teacher / staff)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02566"/>
            <a:ext cx="11064240" cy="659486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557989"/>
            <a:ext cx="548640" cy="548640"/>
          </a:xfrm>
          <a:prstGeom prst="rect">
            <a:avLst/>
          </a:prstGeom>
          <a:solidFill>
            <a:srgbClr val="1C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557989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502566"/>
            <a:ext cx="9600000" cy="65948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0">
                <a:solidFill>
                  <a:srgbClr val="222B33"/>
                </a:solidFill>
                <a:latin typeface="Calibri"/>
              </a:rPr>
              <a:t>Counselor / administrator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222052"/>
            <a:ext cx="11064240" cy="659486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3277475"/>
            <a:ext cx="548640" cy="548640"/>
          </a:xfrm>
          <a:prstGeom prst="rect">
            <a:avLst/>
          </a:prstGeom>
          <a:solidFill>
            <a:srgbClr val="1C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277475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222052"/>
            <a:ext cx="9600000" cy="65948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0">
                <a:solidFill>
                  <a:srgbClr val="222B33"/>
                </a:solidFill>
                <a:latin typeface="Calibri"/>
              </a:rPr>
              <a:t>Technology / IT contact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941538"/>
            <a:ext cx="11064240" cy="659486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3996961"/>
            <a:ext cx="548640" cy="548640"/>
          </a:xfrm>
          <a:prstGeom prst="rect">
            <a:avLst/>
          </a:prstGeom>
          <a:solidFill>
            <a:srgbClr val="1C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996961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3941538"/>
            <a:ext cx="9600000" cy="65948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0">
                <a:solidFill>
                  <a:srgbClr val="222B33"/>
                </a:solidFill>
                <a:latin typeface="Calibri"/>
              </a:rPr>
              <a:t>Platform tools — report · block · preserve evidence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661024"/>
            <a:ext cx="11064240" cy="659486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" y="4716447"/>
            <a:ext cx="548640" cy="548640"/>
          </a:xfrm>
          <a:prstGeom prst="rect">
            <a:avLst/>
          </a:prstGeom>
          <a:solidFill>
            <a:srgbClr val="1C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716447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4661024"/>
            <a:ext cx="9600000" cy="65948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0">
                <a:solidFill>
                  <a:srgbClr val="222B33"/>
                </a:solidFill>
                <a:latin typeface="Calibri"/>
              </a:rPr>
              <a:t>Family adult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380510"/>
            <a:ext cx="11064240" cy="659486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" y="5435933"/>
            <a:ext cx="548640" cy="548640"/>
          </a:xfrm>
          <a:prstGeom prst="rect">
            <a:avLst/>
          </a:prstGeom>
          <a:solidFill>
            <a:srgbClr val="1C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435933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5380510"/>
            <a:ext cx="9600000" cy="65948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0">
                <a:solidFill>
                  <a:srgbClr val="222B33"/>
                </a:solidFill>
                <a:latin typeface="Calibri"/>
              </a:rPr>
              <a:t>National resources adults may use (CyberTipline · Take It Down)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4A4A4A"/>
                </a:solidFill>
                <a:latin typeface="Calibri"/>
              </a:rPr>
              <a:t>Groups fill in real names/contacts for your school.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CyberSWAT · Grade 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C6E7E"/>
                </a:solidFill>
                <a:latin typeface="Calibri"/>
              </a:rPr>
              <a:t>LESSON 3 · MODEL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>
                <a:solidFill>
                  <a:srgbClr val="1E3048"/>
                </a:solidFill>
                <a:latin typeface="Cambria"/>
              </a:rPr>
              <a:t>Support + Report, Together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83080"/>
            <a:ext cx="11064240" cy="1828800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51560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1E3048"/>
                </a:solidFill>
                <a:latin typeface="Cambria"/>
              </a:rPr>
              <a:t>“You don’t have to handle this alone, and you’re not in trouble. Don’t respond or pay. Let’s save the evidence and go to a trusted adult right now.”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0"/>
            <a:ext cx="11064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4A4A4A"/>
                </a:solidFill>
                <a:latin typeface="Calibri"/>
              </a:rPr>
              <a:t>Exit ticket:  a situation to report · a supportive sentence · a reason to preserve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CyberSWAT · Grade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3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600200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B7791F"/>
                </a:solidFill>
                <a:latin typeface="Calibri"/>
              </a:rPr>
              <a:t>REMEMBER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57400"/>
            <a:ext cx="10515600" cy="10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mbria"/>
              </a:rPr>
              <a:t>Manage · Recognize ·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20000"/>
            <a:ext cx="10515600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0">
                <a:solidFill>
                  <a:srgbClr val="D3E2E5"/>
                </a:solidFill>
                <a:latin typeface="Calibri"/>
              </a:rPr>
              <a:t>Run the 5 P’s before you post. Verify before you act. Preserve evidence and report serious harm early.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900000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8FC0C9"/>
                </a:solidFill>
                <a:latin typeface="Calibri"/>
              </a:rPr>
              <a:t>My trusted adults / school reporting pathway:  ______________________________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CyberSWAT · Grade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40A6916CC0054428A1B563C9E1D847E" ma:contentTypeVersion="3" ma:contentTypeDescription="Create a new document." ma:contentTypeScope="" ma:versionID="10ea2242063a99e91138254cb92189b8">
  <xsd:schema xmlns:xsd="http://www.w3.org/2001/XMLSchema" xmlns:xs="http://www.w3.org/2001/XMLSchema" xmlns:p="http://schemas.microsoft.com/office/2006/metadata/properties" xmlns:ns2="14615ecc-17b4-4e85-aaf4-441117114b7b" targetNamespace="http://schemas.microsoft.com/office/2006/metadata/properties" ma:root="true" ma:fieldsID="4c0fd4eb01a6732c2ccae24947f0835c" ns2:_="">
    <xsd:import namespace="14615ecc-17b4-4e85-aaf4-441117114b7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4615ecc-17b4-4e85-aaf4-441117114b7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461B478-E6FA-4997-8E98-AA2D98C2CB61}"/>
</file>

<file path=customXml/itemProps2.xml><?xml version="1.0" encoding="utf-8"?>
<ds:datastoreItem xmlns:ds="http://schemas.openxmlformats.org/officeDocument/2006/customXml" ds:itemID="{861BCB6C-87B9-4518-BEA2-0148CCAF9A31}"/>
</file>

<file path=customXml/itemProps3.xml><?xml version="1.0" encoding="utf-8"?>
<ds:datastoreItem xmlns:ds="http://schemas.openxmlformats.org/officeDocument/2006/customXml" ds:itemID="{EB275D8C-7DBE-4EC3-9242-358EC7312C1E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0x010100840A6916CC0054428A1B563C9E1D847E</vt:lpwstr>
  </property>
</Properties>
</file>